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80" r:id="rId2"/>
    <p:sldId id="327" r:id="rId3"/>
    <p:sldId id="284" r:id="rId4"/>
    <p:sldId id="328" r:id="rId5"/>
    <p:sldId id="329" r:id="rId6"/>
    <p:sldId id="351" r:id="rId7"/>
    <p:sldId id="353" r:id="rId8"/>
    <p:sldId id="354" r:id="rId9"/>
    <p:sldId id="355" r:id="rId10"/>
    <p:sldId id="356" r:id="rId11"/>
    <p:sldId id="352" r:id="rId12"/>
    <p:sldId id="331" r:id="rId13"/>
    <p:sldId id="357" r:id="rId14"/>
    <p:sldId id="358" r:id="rId15"/>
    <p:sldId id="359" r:id="rId16"/>
    <p:sldId id="361" r:id="rId17"/>
    <p:sldId id="362" r:id="rId18"/>
    <p:sldId id="360" r:id="rId19"/>
    <p:sldId id="363" r:id="rId20"/>
    <p:sldId id="364" r:id="rId21"/>
    <p:sldId id="365" r:id="rId22"/>
    <p:sldId id="366" r:id="rId23"/>
    <p:sldId id="367" r:id="rId24"/>
    <p:sldId id="278" r:id="rId2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271E"/>
    <a:srgbClr val="9E2519"/>
    <a:srgbClr val="A02B1A"/>
    <a:srgbClr val="9F2B22"/>
    <a:srgbClr val="D8D2D2"/>
    <a:srgbClr val="DBCFD4"/>
    <a:srgbClr val="D5D5D5"/>
    <a:srgbClr val="DBD8CF"/>
    <a:srgbClr val="DCD3CE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79" autoAdjust="0"/>
    <p:restoredTop sz="94660"/>
  </p:normalViewPr>
  <p:slideViewPr>
    <p:cSldViewPr>
      <p:cViewPr varScale="1">
        <p:scale>
          <a:sx n="90" d="100"/>
          <a:sy n="90" d="100"/>
        </p:scale>
        <p:origin x="1267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86FABA-D603-46B8-94C7-F73A40963B6B}" type="datetimeFigureOut">
              <a:rPr lang="ru-RU" smtClean="0"/>
              <a:t>16.05.2026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C2C539-D2AA-42BB-9DB2-01C91D0B00A3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92015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990656" cy="1470025"/>
          </a:xfrm>
        </p:spPr>
        <p:txBody>
          <a:bodyPr>
            <a:normAutofit/>
          </a:bodyPr>
          <a:lstStyle>
            <a:lvl1pPr algn="r">
              <a:defRPr sz="4000" cap="all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8498825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рабочая страница БЕЛЫЙ ФО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2339752" y="274638"/>
            <a:ext cx="6624736" cy="706090"/>
          </a:xfrm>
        </p:spPr>
        <p:txBody>
          <a:bodyPr>
            <a:normAutofit/>
          </a:bodyPr>
          <a:lstStyle>
            <a:lvl1pPr algn="r">
              <a:defRPr sz="2800" cap="all" baseline="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ru-RU" dirty="0"/>
              <a:t>Колонтитул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804248" y="6237312"/>
            <a:ext cx="2133600" cy="365125"/>
          </a:xfrm>
        </p:spPr>
        <p:txBody>
          <a:bodyPr/>
          <a:lstStyle/>
          <a:p>
            <a:fld id="{B6743867-4E32-4E2D-8739-58246E7E28D2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642207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рабочая страниц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2339752" y="274638"/>
            <a:ext cx="6624736" cy="706090"/>
          </a:xfrm>
        </p:spPr>
        <p:txBody>
          <a:bodyPr>
            <a:normAutofit/>
          </a:bodyPr>
          <a:lstStyle>
            <a:lvl1pPr algn="r">
              <a:defRPr sz="2800" cap="all" baseline="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ru-RU" dirty="0"/>
              <a:t>Колонтитул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804248" y="6237312"/>
            <a:ext cx="2133600" cy="365125"/>
          </a:xfrm>
        </p:spPr>
        <p:txBody>
          <a:bodyPr/>
          <a:lstStyle/>
          <a:p>
            <a:fld id="{B6743867-4E32-4E2D-8739-58246E7E28D2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570305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бочая страница СЕРЫЙ ФО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804248" y="6237312"/>
            <a:ext cx="2133600" cy="365125"/>
          </a:xfrm>
        </p:spPr>
        <p:txBody>
          <a:bodyPr/>
          <a:lstStyle/>
          <a:p>
            <a:fld id="{B6743867-4E32-4E2D-8739-58246E7E28D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8" name="Заголовок 1"/>
          <p:cNvSpPr txBox="1">
            <a:spLocks/>
          </p:cNvSpPr>
          <p:nvPr userDrawn="1"/>
        </p:nvSpPr>
        <p:spPr>
          <a:xfrm>
            <a:off x="2339752" y="274638"/>
            <a:ext cx="6624736" cy="7060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accent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Колонтитул</a:t>
            </a:r>
          </a:p>
        </p:txBody>
      </p:sp>
      <p:sp>
        <p:nvSpPr>
          <p:cNvPr id="9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6935773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оследний кадр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 userDrawn="1"/>
        </p:nvSpPr>
        <p:spPr>
          <a:xfrm>
            <a:off x="5436033" y="5373216"/>
            <a:ext cx="314547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dirty="0">
                <a:solidFill>
                  <a:schemeClr val="bg1"/>
                </a:solidFill>
              </a:rPr>
              <a:t>Санкт-Петербургский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государственный</a:t>
            </a:r>
            <a:r>
              <a:rPr lang="ru-RU" baseline="0" dirty="0">
                <a:solidFill>
                  <a:schemeClr val="bg1"/>
                </a:solidFill>
              </a:rPr>
              <a:t> университет</a:t>
            </a:r>
            <a:br>
              <a:rPr lang="ru-RU" baseline="0" dirty="0">
                <a:solidFill>
                  <a:schemeClr val="bg1"/>
                </a:solidFill>
              </a:rPr>
            </a:br>
            <a:r>
              <a:rPr lang="en-US" b="1" baseline="0" dirty="0">
                <a:solidFill>
                  <a:schemeClr val="bg1"/>
                </a:solidFill>
              </a:rPr>
              <a:t>spbu.ru</a:t>
            </a:r>
            <a:endParaRPr lang="ru-R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97745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EAB62-4EEE-43F2-A223-FD26436F8458}" type="datetime1">
              <a:rPr lang="ru-RU" smtClean="0"/>
              <a:t>16.05.2026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743867-4E32-4E2D-8739-58246E7E28D2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44039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1" r:id="rId4"/>
    <p:sldLayoutId id="2147483655" r:id="rId5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Предсказание рейтинга фильмов на основе метаданных</a:t>
            </a:r>
            <a:br>
              <a:rPr lang="ru-RU" dirty="0"/>
            </a:br>
            <a:r>
              <a:rPr lang="ru-RU" sz="2400" dirty="0"/>
              <a:t>машинное обучение</a:t>
            </a:r>
            <a:endParaRPr lang="ru-RU" dirty="0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0E02374F-A177-4A91-AA23-94454FB97FEF}"/>
              </a:ext>
            </a:extLst>
          </p:cNvPr>
          <p:cNvSpPr txBox="1">
            <a:spLocks/>
          </p:cNvSpPr>
          <p:nvPr/>
        </p:nvSpPr>
        <p:spPr>
          <a:xfrm>
            <a:off x="899592" y="4365104"/>
            <a:ext cx="7990656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000" kern="1200" cap="all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0001767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0872" y="1340768"/>
            <a:ext cx="2159540" cy="1655517"/>
          </a:xfrm>
          <a:noFill/>
          <a:ln w="28575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ru-RU" sz="1800" dirty="0"/>
              <a:t>Цель и метрики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3867-4E32-4E2D-8739-58246E7E28D2}" type="slidenum">
              <a:rPr lang="ru-RU" smtClean="0"/>
              <a:t>2</a:t>
            </a:fld>
            <a:endParaRPr lang="ru-RU" dirty="0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F78623EF-D5F8-4BA4-8B2B-C57ABC54392E}"/>
              </a:ext>
            </a:extLst>
          </p:cNvPr>
          <p:cNvSpPr txBox="1">
            <a:spLocks/>
          </p:cNvSpPr>
          <p:nvPr/>
        </p:nvSpPr>
        <p:spPr>
          <a:xfrm>
            <a:off x="2555776" y="1340768"/>
            <a:ext cx="2159540" cy="1655517"/>
          </a:xfrm>
          <a:prstGeom prst="rect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sz="1600" cap="all" baseline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dirty="0"/>
              <a:t>Парсинг и предобработка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C6928BC2-59FB-4407-AB6C-DC40104CE677}"/>
              </a:ext>
            </a:extLst>
          </p:cNvPr>
          <p:cNvSpPr txBox="1">
            <a:spLocks/>
          </p:cNvSpPr>
          <p:nvPr/>
        </p:nvSpPr>
        <p:spPr>
          <a:xfrm>
            <a:off x="4716016" y="1340768"/>
            <a:ext cx="1800902" cy="1655517"/>
          </a:xfrm>
          <a:prstGeom prst="rect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sz="1600" cap="all" baseline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dirty="0"/>
              <a:t>Обучение моделей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15D3CCFC-FB30-4DAF-A530-EC566F55675D}"/>
              </a:ext>
            </a:extLst>
          </p:cNvPr>
          <p:cNvSpPr txBox="1">
            <a:spLocks/>
          </p:cNvSpPr>
          <p:nvPr/>
        </p:nvSpPr>
        <p:spPr>
          <a:xfrm>
            <a:off x="6516918" y="1341435"/>
            <a:ext cx="2087530" cy="1655517"/>
          </a:xfrm>
          <a:prstGeom prst="rect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1800" dirty="0"/>
              <a:t>Анализ ошибок</a:t>
            </a:r>
          </a:p>
        </p:txBody>
      </p:sp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544C0DC3-6CD8-4442-8643-0471A2257CA1}"/>
              </a:ext>
            </a:extLst>
          </p:cNvPr>
          <p:cNvSpPr txBox="1">
            <a:spLocks/>
          </p:cNvSpPr>
          <p:nvPr/>
        </p:nvSpPr>
        <p:spPr>
          <a:xfrm>
            <a:off x="2339752" y="274638"/>
            <a:ext cx="6624736" cy="7060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Структура презентации</a:t>
            </a: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2D4265F1-C690-4AF9-A323-FE7501FE7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05864" y="3861716"/>
            <a:ext cx="2087530" cy="129547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1800" dirty="0"/>
              <a:t>Постановка задачи, подход к оцениванию результатов</a:t>
            </a:r>
          </a:p>
        </p:txBody>
      </p: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694C40DE-AE1F-4FDE-A10E-A99FCC077DB9}"/>
              </a:ext>
            </a:extLst>
          </p:cNvPr>
          <p:cNvCxnSpPr>
            <a:cxnSpLocks/>
            <a:endCxn id="15" idx="0"/>
          </p:cNvCxnSpPr>
          <p:nvPr/>
        </p:nvCxnSpPr>
        <p:spPr>
          <a:xfrm flipH="1">
            <a:off x="937901" y="3140968"/>
            <a:ext cx="607432" cy="720748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F083D725-7B9B-4929-9629-0365A3FF0BCD}"/>
              </a:ext>
            </a:extLst>
          </p:cNvPr>
          <p:cNvSpPr/>
          <p:nvPr/>
        </p:nvSpPr>
        <p:spPr>
          <a:xfrm>
            <a:off x="1115616" y="5036983"/>
            <a:ext cx="208753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/>
              <a:t>Выбор метрик и обоснование принятых решений</a:t>
            </a:r>
          </a:p>
        </p:txBody>
      </p: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33F37776-1196-48E8-B488-117C259D56FF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1619672" y="3140968"/>
            <a:ext cx="539709" cy="1896015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3635F04F-D3C9-401D-BE58-6BD25BDC6047}"/>
              </a:ext>
            </a:extLst>
          </p:cNvPr>
          <p:cNvSpPr/>
          <p:nvPr/>
        </p:nvSpPr>
        <p:spPr>
          <a:xfrm>
            <a:off x="2040009" y="3563136"/>
            <a:ext cx="192196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/>
              <a:t>Особенности парсера и источника данных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777DB0B4-75EB-4496-8F89-729BF24BA1BD}"/>
              </a:ext>
            </a:extLst>
          </p:cNvPr>
          <p:cNvSpPr/>
          <p:nvPr/>
        </p:nvSpPr>
        <p:spPr>
          <a:xfrm>
            <a:off x="3277484" y="4695527"/>
            <a:ext cx="201319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/>
              <a:t>Предобработка признаков, очистка и токенизаторы</a:t>
            </a:r>
          </a:p>
        </p:txBody>
      </p: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C24B5311-B2C5-4950-8B60-AB27C3DE5F66}"/>
              </a:ext>
            </a:extLst>
          </p:cNvPr>
          <p:cNvCxnSpPr>
            <a:cxnSpLocks/>
            <a:endCxn id="23" idx="0"/>
          </p:cNvCxnSpPr>
          <p:nvPr/>
        </p:nvCxnSpPr>
        <p:spPr>
          <a:xfrm flipH="1">
            <a:off x="3000993" y="3140968"/>
            <a:ext cx="562896" cy="422168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88F3BF16-DED0-4041-B627-F74B714FE3AA}"/>
              </a:ext>
            </a:extLst>
          </p:cNvPr>
          <p:cNvCxnSpPr>
            <a:cxnSpLocks/>
            <a:endCxn id="24" idx="0"/>
          </p:cNvCxnSpPr>
          <p:nvPr/>
        </p:nvCxnSpPr>
        <p:spPr>
          <a:xfrm>
            <a:off x="3671551" y="3140968"/>
            <a:ext cx="612529" cy="1554559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CCB3BECA-600D-4CBA-A282-0E2AFD6F6494}"/>
              </a:ext>
            </a:extLst>
          </p:cNvPr>
          <p:cNvSpPr/>
          <p:nvPr/>
        </p:nvSpPr>
        <p:spPr>
          <a:xfrm>
            <a:off x="4216752" y="3456583"/>
            <a:ext cx="172749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Baseline </a:t>
            </a:r>
            <a:r>
              <a:rPr lang="ru-RU" dirty="0"/>
              <a:t>и линейные модели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B0616B6C-9FD7-4955-A408-8297D4BACA07}"/>
              </a:ext>
            </a:extLst>
          </p:cNvPr>
          <p:cNvSpPr/>
          <p:nvPr/>
        </p:nvSpPr>
        <p:spPr>
          <a:xfrm>
            <a:off x="5481929" y="4903787"/>
            <a:ext cx="172749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/>
              <a:t>Ансамблевые модели и общая таблица результатов</a:t>
            </a:r>
          </a:p>
        </p:txBody>
      </p: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EAD646B3-03C1-4A36-90EC-947ED2ADF98C}"/>
              </a:ext>
            </a:extLst>
          </p:cNvPr>
          <p:cNvCxnSpPr>
            <a:cxnSpLocks/>
            <a:endCxn id="32" idx="0"/>
          </p:cNvCxnSpPr>
          <p:nvPr/>
        </p:nvCxnSpPr>
        <p:spPr>
          <a:xfrm flipH="1">
            <a:off x="5080498" y="3115127"/>
            <a:ext cx="499616" cy="34145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 стрелкой 36">
            <a:extLst>
              <a:ext uri="{FF2B5EF4-FFF2-40B4-BE49-F238E27FC236}">
                <a16:creationId xmlns:a16="http://schemas.microsoft.com/office/drawing/2014/main" id="{79E2FD96-1978-4119-9FE9-DA3A47BFB0A5}"/>
              </a:ext>
            </a:extLst>
          </p:cNvPr>
          <p:cNvCxnSpPr>
            <a:cxnSpLocks/>
            <a:endCxn id="33" idx="0"/>
          </p:cNvCxnSpPr>
          <p:nvPr/>
        </p:nvCxnSpPr>
        <p:spPr>
          <a:xfrm>
            <a:off x="5700989" y="3115127"/>
            <a:ext cx="644686" cy="178866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829481CB-979B-4DC4-B98B-B6A58FCA0A0E}"/>
              </a:ext>
            </a:extLst>
          </p:cNvPr>
          <p:cNvSpPr/>
          <p:nvPr/>
        </p:nvSpPr>
        <p:spPr>
          <a:xfrm>
            <a:off x="6354557" y="3488810"/>
            <a:ext cx="160181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/>
              <a:t>Визуализация результатов: графики и диаграммы</a:t>
            </a:r>
          </a:p>
        </p:txBody>
      </p:sp>
      <p:cxnSp>
        <p:nvCxnSpPr>
          <p:cNvPr id="43" name="Прямая со стрелкой 42">
            <a:extLst>
              <a:ext uri="{FF2B5EF4-FFF2-40B4-BE49-F238E27FC236}">
                <a16:creationId xmlns:a16="http://schemas.microsoft.com/office/drawing/2014/main" id="{BC7C683B-E5D5-4A38-AD1A-4B6DCD70E72D}"/>
              </a:ext>
            </a:extLst>
          </p:cNvPr>
          <p:cNvCxnSpPr>
            <a:cxnSpLocks/>
            <a:endCxn id="41" idx="0"/>
          </p:cNvCxnSpPr>
          <p:nvPr/>
        </p:nvCxnSpPr>
        <p:spPr>
          <a:xfrm flipH="1">
            <a:off x="7155467" y="3140968"/>
            <a:ext cx="440872" cy="347842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0FBEF57B-0603-4C3A-BD13-23952B5F0E28}"/>
              </a:ext>
            </a:extLst>
          </p:cNvPr>
          <p:cNvSpPr/>
          <p:nvPr/>
        </p:nvSpPr>
        <p:spPr>
          <a:xfrm>
            <a:off x="7287399" y="5395434"/>
            <a:ext cx="172749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/>
              <a:t>Анализ рисков и ограничений</a:t>
            </a:r>
          </a:p>
        </p:txBody>
      </p:sp>
      <p:cxnSp>
        <p:nvCxnSpPr>
          <p:cNvPr id="26" name="Прямая со стрелкой 25">
            <a:extLst>
              <a:ext uri="{FF2B5EF4-FFF2-40B4-BE49-F238E27FC236}">
                <a16:creationId xmlns:a16="http://schemas.microsoft.com/office/drawing/2014/main" id="{B9ED9D67-4725-47C7-A838-623AD40406FE}"/>
              </a:ext>
            </a:extLst>
          </p:cNvPr>
          <p:cNvCxnSpPr>
            <a:cxnSpLocks/>
          </p:cNvCxnSpPr>
          <p:nvPr/>
        </p:nvCxnSpPr>
        <p:spPr>
          <a:xfrm>
            <a:off x="7782076" y="3130148"/>
            <a:ext cx="738138" cy="226528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80741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67744" y="166922"/>
            <a:ext cx="1800200" cy="706090"/>
          </a:xfrm>
          <a:solidFill>
            <a:srgbClr val="D8D2D2"/>
          </a:solidFill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ru-RU" sz="1600" dirty="0"/>
              <a:t>Цель и метрики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0100" y="1511413"/>
            <a:ext cx="8784976" cy="7316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	Построить модель регрессии, которая предсказывает рейтинг фильма на «Кинопоиске» по доступной информации о фильме.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3867-4E32-4E2D-8739-58246E7E28D2}" type="slidenum">
              <a:rPr lang="ru-RU" smtClean="0"/>
              <a:t>3</a:t>
            </a:fld>
            <a:endParaRPr lang="ru-RU" dirty="0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F78623EF-D5F8-4BA4-8B2B-C57ABC54392E}"/>
              </a:ext>
            </a:extLst>
          </p:cNvPr>
          <p:cNvSpPr txBox="1">
            <a:spLocks/>
          </p:cNvSpPr>
          <p:nvPr/>
        </p:nvSpPr>
        <p:spPr>
          <a:xfrm>
            <a:off x="4067944" y="166922"/>
            <a:ext cx="1800200" cy="706090"/>
          </a:xfrm>
          <a:prstGeom prst="rect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sz="1600" cap="all" baseline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Парсинг и предобработка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C6928BC2-59FB-4407-AB6C-DC40104CE677}"/>
              </a:ext>
            </a:extLst>
          </p:cNvPr>
          <p:cNvSpPr txBox="1">
            <a:spLocks/>
          </p:cNvSpPr>
          <p:nvPr/>
        </p:nvSpPr>
        <p:spPr>
          <a:xfrm>
            <a:off x="5866184" y="166922"/>
            <a:ext cx="1549152" cy="706090"/>
          </a:xfrm>
          <a:prstGeom prst="rect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sz="1600" cap="all" baseline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Обучение моделей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15D3CCFC-FB30-4DAF-A530-EC566F55675D}"/>
              </a:ext>
            </a:extLst>
          </p:cNvPr>
          <p:cNvSpPr txBox="1">
            <a:spLocks/>
          </p:cNvSpPr>
          <p:nvPr/>
        </p:nvSpPr>
        <p:spPr>
          <a:xfrm>
            <a:off x="7415336" y="167589"/>
            <a:ext cx="1549152" cy="706090"/>
          </a:xfrm>
          <a:prstGeom prst="rect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1600" dirty="0"/>
              <a:t>Анализ ошибок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D861F9C-61BF-4CBB-976E-998011365B0C}"/>
              </a:ext>
            </a:extLst>
          </p:cNvPr>
          <p:cNvSpPr/>
          <p:nvPr/>
        </p:nvSpPr>
        <p:spPr>
          <a:xfrm>
            <a:off x="192962" y="1457696"/>
            <a:ext cx="929422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ru-RU" sz="2400" b="1" i="1" dirty="0">
                <a:solidFill>
                  <a:srgbClr val="9F2B22"/>
                </a:solidFill>
              </a:rPr>
              <a:t>Цель: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8DCEE08-F75A-4D72-9572-7C8C8FC2E136}"/>
              </a:ext>
            </a:extLst>
          </p:cNvPr>
          <p:cNvSpPr/>
          <p:nvPr/>
        </p:nvSpPr>
        <p:spPr>
          <a:xfrm>
            <a:off x="160100" y="2776135"/>
            <a:ext cx="79589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i="1" dirty="0">
                <a:solidFill>
                  <a:srgbClr val="9F2B22"/>
                </a:solidFill>
              </a:rPr>
              <a:t>Практический смысл: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C25AC43F-D1A9-4EC2-A66A-B1CCA0F0F27C}"/>
              </a:ext>
            </a:extLst>
          </p:cNvPr>
          <p:cNvSpPr/>
          <p:nvPr/>
        </p:nvSpPr>
        <p:spPr>
          <a:xfrm>
            <a:off x="139450" y="4673140"/>
            <a:ext cx="77768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i="1" dirty="0">
                <a:solidFill>
                  <a:srgbClr val="9F2B22"/>
                </a:solidFill>
              </a:rPr>
              <a:t>«Количественная» цель: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0C186B0-4C0A-480F-91FA-BCE727F2CAEF}"/>
              </a:ext>
            </a:extLst>
          </p:cNvPr>
          <p:cNvSpPr/>
          <p:nvPr/>
        </p:nvSpPr>
        <p:spPr>
          <a:xfrm>
            <a:off x="139450" y="2828836"/>
            <a:ext cx="878497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			       </a:t>
            </a:r>
            <a:r>
              <a:rPr lang="ru-RU" sz="2000" dirty="0"/>
              <a:t>Оценивать потенциальный рейтинг/качество фильма по описанию и метаданным, сравнивать фильмы между собой, делать ранжирование и первичную аналитику (например, для рекомендаций, контент-стратегий).</a:t>
            </a:r>
            <a:endParaRPr lang="ru-RU" dirty="0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BF529235-6958-49CD-8693-EB95ADA13EBE}"/>
              </a:ext>
            </a:extLst>
          </p:cNvPr>
          <p:cNvSpPr/>
          <p:nvPr/>
        </p:nvSpPr>
        <p:spPr>
          <a:xfrm>
            <a:off x="211699" y="4725144"/>
            <a:ext cx="867330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			           Получить ошибку предсказания заметно ниже простого </a:t>
            </a:r>
            <a:r>
              <a:rPr lang="ru-RU" sz="2000" dirty="0" err="1"/>
              <a:t>baseline</a:t>
            </a:r>
            <a:r>
              <a:rPr lang="ru-RU" sz="2000" dirty="0"/>
              <a:t> (предсказывание среднего рейтинга).</a:t>
            </a:r>
          </a:p>
        </p:txBody>
      </p:sp>
    </p:spTree>
    <p:extLst>
      <p:ext uri="{BB962C8B-B14F-4D97-AF65-F5344CB8AC3E}">
        <p14:creationId xmlns:p14="http://schemas.microsoft.com/office/powerpoint/2010/main" val="30913060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3867-4E32-4E2D-8739-58246E7E28D2}" type="slidenum">
              <a:rPr lang="ru-RU" smtClean="0"/>
              <a:t>4</a:t>
            </a:fld>
            <a:endParaRPr lang="ru-RU" dirty="0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37706A78-102F-48EC-8AE9-C98398C6DF1D}"/>
              </a:ext>
            </a:extLst>
          </p:cNvPr>
          <p:cNvSpPr/>
          <p:nvPr/>
        </p:nvSpPr>
        <p:spPr>
          <a:xfrm>
            <a:off x="217233" y="1128086"/>
            <a:ext cx="1574470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ru-RU" sz="2400" b="1" i="1" dirty="0">
                <a:solidFill>
                  <a:srgbClr val="9F2B22"/>
                </a:solidFill>
              </a:rPr>
              <a:t>Метрики: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B42121D-939B-4C25-BA3D-867D7AFF1952}"/>
              </a:ext>
            </a:extLst>
          </p:cNvPr>
          <p:cNvSpPr/>
          <p:nvPr/>
        </p:nvSpPr>
        <p:spPr>
          <a:xfrm>
            <a:off x="231396" y="1618947"/>
            <a:ext cx="885885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Так как целевая переменная — непрерывная (рейтинг), это задача регрессии. Поэтому используются: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D234663-53B3-4BB3-BE1D-C82744679DEC}"/>
              </a:ext>
            </a:extLst>
          </p:cNvPr>
          <p:cNvSpPr/>
          <p:nvPr/>
        </p:nvSpPr>
        <p:spPr>
          <a:xfrm>
            <a:off x="168217" y="2695780"/>
            <a:ext cx="4187756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i="1" dirty="0"/>
              <a:t>MAE (Mean Absolute Error) </a:t>
            </a:r>
            <a:r>
              <a:rPr lang="ru-RU" sz="2000" dirty="0"/>
              <a:t>— основная метрика: 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sz="2000" dirty="0"/>
              <a:t>Очень просто интерпретируется;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sz="2000" dirty="0"/>
              <a:t>Устойчива к выбросам по сравнению с MSE/RMSE (ошибки не возводятся в квадрат);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sz="2000" dirty="0"/>
              <a:t>Для продуктовой интерпретации MAE более понятна и релевантна.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BF64CED-03A6-4C9B-B73A-E0912534B2D6}"/>
              </a:ext>
            </a:extLst>
          </p:cNvPr>
          <p:cNvSpPr/>
          <p:nvPr/>
        </p:nvSpPr>
        <p:spPr>
          <a:xfrm>
            <a:off x="4721858" y="2696924"/>
            <a:ext cx="403244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i="1" dirty="0"/>
              <a:t>RMSE (Root Mean Squared Error) </a:t>
            </a:r>
            <a:r>
              <a:rPr lang="ru-RU" sz="2000" dirty="0"/>
              <a:t>— дополнительная метрика:  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sz="2000" dirty="0"/>
              <a:t>Сильнее штрафует большие ошибки (редкие, но сильные промахи);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sz="2000" dirty="0"/>
              <a:t>Будет полезна, если важно будет важно минимизировать именно «провалы» модели.</a:t>
            </a:r>
          </a:p>
        </p:txBody>
      </p: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EF953083-BFD4-47E7-A541-85CAE3EB2271}"/>
              </a:ext>
            </a:extLst>
          </p:cNvPr>
          <p:cNvCxnSpPr>
            <a:cxnSpLocks/>
          </p:cNvCxnSpPr>
          <p:nvPr/>
        </p:nvCxnSpPr>
        <p:spPr>
          <a:xfrm>
            <a:off x="217233" y="2420888"/>
            <a:ext cx="8686328" cy="0"/>
          </a:xfrm>
          <a:prstGeom prst="line">
            <a:avLst/>
          </a:prstGeom>
          <a:ln w="19050">
            <a:solidFill>
              <a:srgbClr val="9F2B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40A68FF6-A9AB-45AC-9C44-AB32F17ECCB1}"/>
              </a:ext>
            </a:extLst>
          </p:cNvPr>
          <p:cNvCxnSpPr>
            <a:cxnSpLocks/>
          </p:cNvCxnSpPr>
          <p:nvPr/>
        </p:nvCxnSpPr>
        <p:spPr>
          <a:xfrm>
            <a:off x="4468924" y="2420888"/>
            <a:ext cx="0" cy="4181549"/>
          </a:xfrm>
          <a:prstGeom prst="line">
            <a:avLst/>
          </a:prstGeom>
          <a:ln w="19050">
            <a:solidFill>
              <a:srgbClr val="9F2B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Заголовок 1">
            <a:extLst>
              <a:ext uri="{FF2B5EF4-FFF2-40B4-BE49-F238E27FC236}">
                <a16:creationId xmlns:a16="http://schemas.microsoft.com/office/drawing/2014/main" id="{A52F6233-2824-437D-9081-1B4D2E9E8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7744" y="166922"/>
            <a:ext cx="1800200" cy="706090"/>
          </a:xfrm>
          <a:solidFill>
            <a:srgbClr val="D8D2D2"/>
          </a:solidFill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ru-RU" sz="1600" dirty="0"/>
              <a:t>Цель и метрики</a:t>
            </a:r>
          </a:p>
        </p:txBody>
      </p:sp>
      <p:sp>
        <p:nvSpPr>
          <p:cNvPr id="28" name="Заголовок 1">
            <a:extLst>
              <a:ext uri="{FF2B5EF4-FFF2-40B4-BE49-F238E27FC236}">
                <a16:creationId xmlns:a16="http://schemas.microsoft.com/office/drawing/2014/main" id="{2821883A-DB7F-41CB-99CC-3BAE65B8D930}"/>
              </a:ext>
            </a:extLst>
          </p:cNvPr>
          <p:cNvSpPr txBox="1">
            <a:spLocks/>
          </p:cNvSpPr>
          <p:nvPr/>
        </p:nvSpPr>
        <p:spPr>
          <a:xfrm>
            <a:off x="4067944" y="166922"/>
            <a:ext cx="1800200" cy="706090"/>
          </a:xfrm>
          <a:prstGeom prst="rect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sz="1600" cap="all" baseline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Парсинг и предобработка</a:t>
            </a:r>
          </a:p>
        </p:txBody>
      </p:sp>
      <p:sp>
        <p:nvSpPr>
          <p:cNvPr id="29" name="Заголовок 1">
            <a:extLst>
              <a:ext uri="{FF2B5EF4-FFF2-40B4-BE49-F238E27FC236}">
                <a16:creationId xmlns:a16="http://schemas.microsoft.com/office/drawing/2014/main" id="{31BE2029-13D0-4BE4-8D7A-6C69BF65D569}"/>
              </a:ext>
            </a:extLst>
          </p:cNvPr>
          <p:cNvSpPr txBox="1">
            <a:spLocks/>
          </p:cNvSpPr>
          <p:nvPr/>
        </p:nvSpPr>
        <p:spPr>
          <a:xfrm>
            <a:off x="5866184" y="166922"/>
            <a:ext cx="1549152" cy="706090"/>
          </a:xfrm>
          <a:prstGeom prst="rect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sz="1600" cap="all" baseline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Обучение моделей</a:t>
            </a:r>
          </a:p>
        </p:txBody>
      </p:sp>
      <p:sp>
        <p:nvSpPr>
          <p:cNvPr id="30" name="Заголовок 1">
            <a:extLst>
              <a:ext uri="{FF2B5EF4-FFF2-40B4-BE49-F238E27FC236}">
                <a16:creationId xmlns:a16="http://schemas.microsoft.com/office/drawing/2014/main" id="{7C9961B9-6C5B-4D72-9B18-8F5DF5AF6C24}"/>
              </a:ext>
            </a:extLst>
          </p:cNvPr>
          <p:cNvSpPr txBox="1">
            <a:spLocks/>
          </p:cNvSpPr>
          <p:nvPr/>
        </p:nvSpPr>
        <p:spPr>
          <a:xfrm>
            <a:off x="7415336" y="167589"/>
            <a:ext cx="1549152" cy="706090"/>
          </a:xfrm>
          <a:prstGeom prst="rect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1600" dirty="0"/>
              <a:t>Анализ ошибок</a:t>
            </a:r>
          </a:p>
        </p:txBody>
      </p:sp>
    </p:spTree>
    <p:extLst>
      <p:ext uri="{BB962C8B-B14F-4D97-AF65-F5344CB8AC3E}">
        <p14:creationId xmlns:p14="http://schemas.microsoft.com/office/powerpoint/2010/main" val="20279257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3867-4E32-4E2D-8739-58246E7E28D2}" type="slidenum">
              <a:rPr lang="ru-RU" smtClean="0"/>
              <a:t>5</a:t>
            </a:fld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A327D86-4FC6-47CC-836A-86DF64CAAD4A}"/>
              </a:ext>
            </a:extLst>
          </p:cNvPr>
          <p:cNvSpPr/>
          <p:nvPr/>
        </p:nvSpPr>
        <p:spPr>
          <a:xfrm>
            <a:off x="253658" y="1103840"/>
            <a:ext cx="80648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i="1" dirty="0">
                <a:solidFill>
                  <a:srgbClr val="9F2B22"/>
                </a:solidFill>
              </a:rPr>
              <a:t>Как собирали данные (источники, объём, признаки):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D45B64A-4AF8-4585-90FE-5374332D5D1F}"/>
              </a:ext>
            </a:extLst>
          </p:cNvPr>
          <p:cNvSpPr/>
          <p:nvPr/>
        </p:nvSpPr>
        <p:spPr>
          <a:xfrm>
            <a:off x="77074" y="1566783"/>
            <a:ext cx="906692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	           Выгрузка в CSV формата kinopoisk_movies.csv (данные по фильмам Кинопоиска), где есть: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CBA0152-8510-4F66-9315-595CF85BD7E6}"/>
              </a:ext>
            </a:extLst>
          </p:cNvPr>
          <p:cNvSpPr/>
          <p:nvPr/>
        </p:nvSpPr>
        <p:spPr>
          <a:xfrm>
            <a:off x="292949" y="2391235"/>
            <a:ext cx="8424936" cy="1169551"/>
          </a:xfrm>
          <a:prstGeom prst="rect">
            <a:avLst/>
          </a:prstGeom>
          <a:solidFill>
            <a:schemeClr val="bg1"/>
          </a:solidFill>
          <a:ln>
            <a:solidFill>
              <a:srgbClr val="9B271E"/>
            </a:solidFill>
          </a:ln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600"/>
              </a:spcBef>
              <a:buFont typeface="+mj-lt"/>
              <a:buAutoNum type="arabicPeriod"/>
            </a:pPr>
            <a:r>
              <a:rPr lang="ru-RU" sz="2000" dirty="0"/>
              <a:t>Метаданные (год, длительность, возрастной рейтинг, жанры, страны);</a:t>
            </a:r>
          </a:p>
          <a:p>
            <a:pPr marL="342900" indent="-342900" algn="just">
              <a:spcBef>
                <a:spcPts val="600"/>
              </a:spcBef>
              <a:buFont typeface="+mj-lt"/>
              <a:buAutoNum type="arabicPeriod"/>
            </a:pPr>
            <a:r>
              <a:rPr lang="ru-RU" sz="2000" dirty="0"/>
              <a:t>Текстовые поля (описание, названия);</a:t>
            </a:r>
          </a:p>
          <a:p>
            <a:pPr marL="342900" indent="-342900" algn="just">
              <a:spcBef>
                <a:spcPts val="600"/>
              </a:spcBef>
              <a:buFont typeface="+mj-lt"/>
              <a:buAutoNum type="arabicPeriod"/>
            </a:pPr>
            <a:r>
              <a:rPr lang="ru-RU" sz="2000" dirty="0"/>
              <a:t>Целевой рейтинг (`</a:t>
            </a:r>
            <a:r>
              <a:rPr lang="ru-RU" sz="2000" dirty="0" err="1"/>
              <a:t>rating_kp</a:t>
            </a:r>
            <a:r>
              <a:rPr lang="ru-RU" sz="2000" dirty="0"/>
              <a:t>`) и число оценок (`</a:t>
            </a:r>
            <a:r>
              <a:rPr lang="ru-RU" sz="2000" dirty="0" err="1"/>
              <a:t>rating_count</a:t>
            </a:r>
            <a:r>
              <a:rPr lang="ru-RU" sz="2000" dirty="0"/>
              <a:t>`).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4BE2194-1C10-4310-8627-210179612785}"/>
              </a:ext>
            </a:extLst>
          </p:cNvPr>
          <p:cNvSpPr/>
          <p:nvPr/>
        </p:nvSpPr>
        <p:spPr>
          <a:xfrm>
            <a:off x="77074" y="1526744"/>
            <a:ext cx="17059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i="1" dirty="0">
                <a:solidFill>
                  <a:srgbClr val="9F2B22"/>
                </a:solidFill>
              </a:rPr>
              <a:t>Источник: 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FC590D4-0965-4CAA-8DB5-E749590AB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43" y="3717032"/>
            <a:ext cx="8830345" cy="2734799"/>
          </a:xfrm>
          <a:prstGeom prst="rect">
            <a:avLst/>
          </a:prstGeom>
          <a:ln>
            <a:solidFill>
              <a:srgbClr val="9B271E"/>
            </a:solidFill>
          </a:ln>
        </p:spPr>
      </p:pic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27349E2A-883D-4052-98F6-451F66EBB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7744" y="166922"/>
            <a:ext cx="1800200" cy="706090"/>
          </a:xfrm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ru-RU" sz="1600" dirty="0"/>
              <a:t>Цель и метрики</a:t>
            </a:r>
          </a:p>
        </p:txBody>
      </p:sp>
      <p:sp>
        <p:nvSpPr>
          <p:cNvPr id="21" name="Заголовок 1">
            <a:extLst>
              <a:ext uri="{FF2B5EF4-FFF2-40B4-BE49-F238E27FC236}">
                <a16:creationId xmlns:a16="http://schemas.microsoft.com/office/drawing/2014/main" id="{A91B9B47-4751-4DE5-B81F-8B0882C8AC75}"/>
              </a:ext>
            </a:extLst>
          </p:cNvPr>
          <p:cNvSpPr txBox="1">
            <a:spLocks/>
          </p:cNvSpPr>
          <p:nvPr/>
        </p:nvSpPr>
        <p:spPr>
          <a:xfrm>
            <a:off x="4067944" y="166922"/>
            <a:ext cx="1800200" cy="706090"/>
          </a:xfrm>
          <a:prstGeom prst="rect">
            <a:avLst/>
          </a:prstGeom>
          <a:solidFill>
            <a:srgbClr val="D8D2D2"/>
          </a:solidFill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sz="1600" cap="all" baseline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Парсинг и предобработка</a:t>
            </a:r>
          </a:p>
        </p:txBody>
      </p:sp>
      <p:sp>
        <p:nvSpPr>
          <p:cNvPr id="23" name="Заголовок 1">
            <a:extLst>
              <a:ext uri="{FF2B5EF4-FFF2-40B4-BE49-F238E27FC236}">
                <a16:creationId xmlns:a16="http://schemas.microsoft.com/office/drawing/2014/main" id="{E0345B33-C527-4901-9801-BA4740CB7E8A}"/>
              </a:ext>
            </a:extLst>
          </p:cNvPr>
          <p:cNvSpPr txBox="1">
            <a:spLocks/>
          </p:cNvSpPr>
          <p:nvPr/>
        </p:nvSpPr>
        <p:spPr>
          <a:xfrm>
            <a:off x="5866184" y="166922"/>
            <a:ext cx="1549152" cy="706090"/>
          </a:xfrm>
          <a:prstGeom prst="rect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sz="1600" cap="all" baseline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Обучение моделей</a:t>
            </a:r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1135E8E4-FD45-4DF5-91C7-31EB868E3368}"/>
              </a:ext>
            </a:extLst>
          </p:cNvPr>
          <p:cNvSpPr txBox="1">
            <a:spLocks/>
          </p:cNvSpPr>
          <p:nvPr/>
        </p:nvSpPr>
        <p:spPr>
          <a:xfrm>
            <a:off x="7415336" y="167589"/>
            <a:ext cx="1549152" cy="706090"/>
          </a:xfrm>
          <a:prstGeom prst="rect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1600" dirty="0"/>
              <a:t>Анализ ошибок</a:t>
            </a:r>
          </a:p>
        </p:txBody>
      </p:sp>
    </p:spTree>
    <p:extLst>
      <p:ext uri="{BB962C8B-B14F-4D97-AF65-F5344CB8AC3E}">
        <p14:creationId xmlns:p14="http://schemas.microsoft.com/office/powerpoint/2010/main" val="4088577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3867-4E32-4E2D-8739-58246E7E28D2}" type="slidenum">
              <a:rPr lang="ru-RU" smtClean="0"/>
              <a:t>6</a:t>
            </a:fld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22C8A13-034A-4AB4-BA8F-A741422A891E}"/>
              </a:ext>
            </a:extLst>
          </p:cNvPr>
          <p:cNvSpPr/>
          <p:nvPr/>
        </p:nvSpPr>
        <p:spPr>
          <a:xfrm>
            <a:off x="323528" y="2044011"/>
            <a:ext cx="8429915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1200"/>
              </a:spcBef>
              <a:buFont typeface="Courier New" panose="02070309020205020404" pitchFamily="49" charset="0"/>
              <a:buChar char="o"/>
            </a:pPr>
            <a:r>
              <a:rPr lang="ru-RU" sz="2000" dirty="0"/>
              <a:t>Компромисс между доступностью данных и скоростью экспериментов: на таком объёме мы могли быстро проверять разные модели и пайплайны.</a:t>
            </a:r>
          </a:p>
          <a:p>
            <a:pPr marL="285750" indent="-285750">
              <a:spcBef>
                <a:spcPts val="1200"/>
              </a:spcBef>
              <a:buFont typeface="Courier New" panose="02070309020205020404" pitchFamily="49" charset="0"/>
              <a:buChar char="o"/>
            </a:pPr>
            <a:r>
              <a:rPr lang="ru-RU" sz="2000" dirty="0"/>
              <a:t>Для подходов с текстовыми признаками (TF‑IDF / CatBoost text) несколько тысяч объектов уже дают заметный сигнал, особенно если описания информативны.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360814E-8D59-45D7-B12A-82410B6821D1}"/>
              </a:ext>
            </a:extLst>
          </p:cNvPr>
          <p:cNvSpPr/>
          <p:nvPr/>
        </p:nvSpPr>
        <p:spPr>
          <a:xfrm>
            <a:off x="179512" y="1340768"/>
            <a:ext cx="83529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i="1" dirty="0">
                <a:solidFill>
                  <a:srgbClr val="9F2B22"/>
                </a:solidFill>
              </a:rPr>
              <a:t>Почему такой объём выборки (</a:t>
            </a:r>
            <a:r>
              <a:rPr lang="en-US" sz="2400" b="1" i="1" dirty="0">
                <a:solidFill>
                  <a:srgbClr val="9F2B22"/>
                </a:solidFill>
              </a:rPr>
              <a:t>~</a:t>
            </a:r>
            <a:r>
              <a:rPr lang="ru-RU" sz="2400" b="1" i="1" dirty="0">
                <a:solidFill>
                  <a:srgbClr val="9F2B22"/>
                </a:solidFill>
              </a:rPr>
              <a:t>22</a:t>
            </a:r>
            <a:r>
              <a:rPr lang="en-US" sz="2400" b="1" i="1" dirty="0">
                <a:solidFill>
                  <a:srgbClr val="9F2B22"/>
                </a:solidFill>
              </a:rPr>
              <a:t>00</a:t>
            </a:r>
            <a:r>
              <a:rPr lang="ru-RU" sz="2400" b="1" i="1" dirty="0">
                <a:solidFill>
                  <a:srgbClr val="9F2B22"/>
                </a:solidFill>
              </a:rPr>
              <a:t> фильмов):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EE6A500-9889-4E91-A987-0627259533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058" y="4367628"/>
            <a:ext cx="7906853" cy="1724266"/>
          </a:xfrm>
          <a:prstGeom prst="rect">
            <a:avLst/>
          </a:prstGeom>
          <a:ln>
            <a:solidFill>
              <a:srgbClr val="9B271E"/>
            </a:solidFill>
          </a:ln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A1B4224-9173-40EA-8A82-A632D99E252A}"/>
              </a:ext>
            </a:extLst>
          </p:cNvPr>
          <p:cNvSpPr/>
          <p:nvPr/>
        </p:nvSpPr>
        <p:spPr>
          <a:xfrm>
            <a:off x="2267744" y="4437112"/>
            <a:ext cx="4608512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C03D29C9-6417-46F2-9B57-2F38E60C6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7744" y="166922"/>
            <a:ext cx="1800200" cy="706090"/>
          </a:xfrm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ru-RU" sz="1600" dirty="0"/>
              <a:t>Цель и метрики</a:t>
            </a:r>
          </a:p>
        </p:txBody>
      </p:sp>
      <p:sp>
        <p:nvSpPr>
          <p:cNvPr id="19" name="Заголовок 1">
            <a:extLst>
              <a:ext uri="{FF2B5EF4-FFF2-40B4-BE49-F238E27FC236}">
                <a16:creationId xmlns:a16="http://schemas.microsoft.com/office/drawing/2014/main" id="{C85E0B49-5344-4208-A644-52916C5A2618}"/>
              </a:ext>
            </a:extLst>
          </p:cNvPr>
          <p:cNvSpPr txBox="1">
            <a:spLocks/>
          </p:cNvSpPr>
          <p:nvPr/>
        </p:nvSpPr>
        <p:spPr>
          <a:xfrm>
            <a:off x="4067944" y="166922"/>
            <a:ext cx="1800200" cy="706090"/>
          </a:xfrm>
          <a:prstGeom prst="rect">
            <a:avLst/>
          </a:prstGeom>
          <a:solidFill>
            <a:srgbClr val="D8D2D2"/>
          </a:solidFill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sz="1600" cap="all" baseline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Парсинг и предобработка</a:t>
            </a:r>
          </a:p>
        </p:txBody>
      </p:sp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104237C9-98B9-459B-8BF7-0AED9B0A1F5F}"/>
              </a:ext>
            </a:extLst>
          </p:cNvPr>
          <p:cNvSpPr txBox="1">
            <a:spLocks/>
          </p:cNvSpPr>
          <p:nvPr/>
        </p:nvSpPr>
        <p:spPr>
          <a:xfrm>
            <a:off x="5866184" y="166922"/>
            <a:ext cx="1549152" cy="706090"/>
          </a:xfrm>
          <a:prstGeom prst="rect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sz="1600" cap="all" baseline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Обучение моделей</a:t>
            </a:r>
          </a:p>
        </p:txBody>
      </p:sp>
      <p:sp>
        <p:nvSpPr>
          <p:cNvPr id="21" name="Заголовок 1">
            <a:extLst>
              <a:ext uri="{FF2B5EF4-FFF2-40B4-BE49-F238E27FC236}">
                <a16:creationId xmlns:a16="http://schemas.microsoft.com/office/drawing/2014/main" id="{8ACF66F4-A24A-48BB-9724-A0CBF99454AB}"/>
              </a:ext>
            </a:extLst>
          </p:cNvPr>
          <p:cNvSpPr txBox="1">
            <a:spLocks/>
          </p:cNvSpPr>
          <p:nvPr/>
        </p:nvSpPr>
        <p:spPr>
          <a:xfrm>
            <a:off x="7415336" y="167589"/>
            <a:ext cx="1549152" cy="706090"/>
          </a:xfrm>
          <a:prstGeom prst="rect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1600" dirty="0"/>
              <a:t>Анализ ошибок</a:t>
            </a:r>
          </a:p>
        </p:txBody>
      </p:sp>
    </p:spTree>
    <p:extLst>
      <p:ext uri="{BB962C8B-B14F-4D97-AF65-F5344CB8AC3E}">
        <p14:creationId xmlns:p14="http://schemas.microsoft.com/office/powerpoint/2010/main" val="38156430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3867-4E32-4E2D-8739-58246E7E28D2}" type="slidenum">
              <a:rPr lang="ru-RU" smtClean="0"/>
              <a:t>7</a:t>
            </a:fld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09786FB-01F7-452E-A4BD-869797ABC1FC}"/>
              </a:ext>
            </a:extLst>
          </p:cNvPr>
          <p:cNvSpPr/>
          <p:nvPr/>
        </p:nvSpPr>
        <p:spPr>
          <a:xfrm>
            <a:off x="179512" y="1058284"/>
            <a:ext cx="65344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i="1" dirty="0">
                <a:solidFill>
                  <a:srgbClr val="9F2B22"/>
                </a:solidFill>
              </a:rPr>
              <a:t>Почему выбрали такие признаки: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B8EAC26-A1E7-4CCC-8CD6-44F5EEF52E41}"/>
              </a:ext>
            </a:extLst>
          </p:cNvPr>
          <p:cNvSpPr/>
          <p:nvPr/>
        </p:nvSpPr>
        <p:spPr>
          <a:xfrm>
            <a:off x="179512" y="1520616"/>
            <a:ext cx="8884404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1200"/>
              </a:spcBef>
              <a:buFont typeface="Courier New" panose="02070309020205020404" pitchFamily="49" charset="0"/>
              <a:buChar char="o"/>
            </a:pPr>
            <a:r>
              <a:rPr lang="ru-RU" sz="2000" b="1" i="1" dirty="0"/>
              <a:t>Числовые:</a:t>
            </a:r>
            <a:r>
              <a:rPr lang="ru-RU" sz="2000" dirty="0"/>
              <a:t> year, duration — для понимания эпохи и формата фильма.</a:t>
            </a:r>
          </a:p>
          <a:p>
            <a:pPr marL="285750" indent="-285750">
              <a:spcBef>
                <a:spcPts val="1200"/>
              </a:spcBef>
              <a:buFont typeface="Courier New" panose="02070309020205020404" pitchFamily="49" charset="0"/>
              <a:buChar char="o"/>
            </a:pPr>
            <a:r>
              <a:rPr lang="ru-RU" sz="2000" b="1" i="1" dirty="0"/>
              <a:t>Жанры и страны:</a:t>
            </a:r>
            <a:r>
              <a:rPr lang="ru-RU" sz="2000" dirty="0"/>
              <a:t> для типа контента и культурного контекста.</a:t>
            </a:r>
          </a:p>
          <a:p>
            <a:pPr marL="285750" indent="-285750">
              <a:spcBef>
                <a:spcPts val="1200"/>
              </a:spcBef>
              <a:buFont typeface="Courier New" panose="02070309020205020404" pitchFamily="49" charset="0"/>
              <a:buChar char="o"/>
            </a:pPr>
            <a:r>
              <a:rPr lang="ru-RU" sz="2000" b="1" i="1" dirty="0"/>
              <a:t>Возрастной рейтинг: </a:t>
            </a:r>
            <a:r>
              <a:rPr lang="ru-RU" sz="2000" dirty="0"/>
              <a:t>для тематики и «массовости».</a:t>
            </a:r>
          </a:p>
          <a:p>
            <a:pPr marL="285750" indent="-285750">
              <a:spcBef>
                <a:spcPts val="1200"/>
              </a:spcBef>
              <a:buFont typeface="Courier New" panose="02070309020205020404" pitchFamily="49" charset="0"/>
              <a:buChar char="o"/>
            </a:pPr>
            <a:r>
              <a:rPr lang="ru-RU" sz="2000" b="1" i="1" dirty="0"/>
              <a:t>Текст (`description`, `title`, `original_title`): </a:t>
            </a:r>
            <a:r>
              <a:rPr lang="ru-RU" sz="2000" dirty="0"/>
              <a:t>содержит семантику сюжета и ключевые слова.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F6694BB-224A-473D-AC63-22C8086EB6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654" y="3637499"/>
            <a:ext cx="6193952" cy="2827345"/>
          </a:xfrm>
          <a:prstGeom prst="rect">
            <a:avLst/>
          </a:prstGeom>
          <a:ln>
            <a:solidFill>
              <a:srgbClr val="9B271E"/>
            </a:solidFill>
          </a:ln>
        </p:spPr>
      </p:pic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329BEC8F-5E24-4832-A79A-8434F1D80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7744" y="166922"/>
            <a:ext cx="1800200" cy="706090"/>
          </a:xfrm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ru-RU" sz="1600" dirty="0"/>
              <a:t>Цель и метрики</a:t>
            </a:r>
          </a:p>
        </p:txBody>
      </p:sp>
      <p:sp>
        <p:nvSpPr>
          <p:cNvPr id="19" name="Заголовок 1">
            <a:extLst>
              <a:ext uri="{FF2B5EF4-FFF2-40B4-BE49-F238E27FC236}">
                <a16:creationId xmlns:a16="http://schemas.microsoft.com/office/drawing/2014/main" id="{27027EAA-CB1A-4767-BDA1-301308ABDE2C}"/>
              </a:ext>
            </a:extLst>
          </p:cNvPr>
          <p:cNvSpPr txBox="1">
            <a:spLocks/>
          </p:cNvSpPr>
          <p:nvPr/>
        </p:nvSpPr>
        <p:spPr>
          <a:xfrm>
            <a:off x="4067944" y="166922"/>
            <a:ext cx="1800200" cy="706090"/>
          </a:xfrm>
          <a:prstGeom prst="rect">
            <a:avLst/>
          </a:prstGeom>
          <a:solidFill>
            <a:srgbClr val="D8D2D2"/>
          </a:solidFill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sz="1600" cap="all" baseline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Парсинг и предобработка</a:t>
            </a:r>
          </a:p>
        </p:txBody>
      </p:sp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D9DA7918-51B7-4DD6-B8F3-3B2A316EE0A5}"/>
              </a:ext>
            </a:extLst>
          </p:cNvPr>
          <p:cNvSpPr txBox="1">
            <a:spLocks/>
          </p:cNvSpPr>
          <p:nvPr/>
        </p:nvSpPr>
        <p:spPr>
          <a:xfrm>
            <a:off x="5866184" y="166922"/>
            <a:ext cx="1549152" cy="706090"/>
          </a:xfrm>
          <a:prstGeom prst="rect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sz="1600" cap="all" baseline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Обучение моделей</a:t>
            </a:r>
          </a:p>
        </p:txBody>
      </p:sp>
      <p:sp>
        <p:nvSpPr>
          <p:cNvPr id="21" name="Заголовок 1">
            <a:extLst>
              <a:ext uri="{FF2B5EF4-FFF2-40B4-BE49-F238E27FC236}">
                <a16:creationId xmlns:a16="http://schemas.microsoft.com/office/drawing/2014/main" id="{8DEDAB48-C6B3-4981-9EB0-6156FB657DDE}"/>
              </a:ext>
            </a:extLst>
          </p:cNvPr>
          <p:cNvSpPr txBox="1">
            <a:spLocks/>
          </p:cNvSpPr>
          <p:nvPr/>
        </p:nvSpPr>
        <p:spPr>
          <a:xfrm>
            <a:off x="7415336" y="167589"/>
            <a:ext cx="1549152" cy="706090"/>
          </a:xfrm>
          <a:prstGeom prst="rect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1600" dirty="0"/>
              <a:t>Анализ ошибок</a:t>
            </a:r>
          </a:p>
        </p:txBody>
      </p:sp>
    </p:spTree>
    <p:extLst>
      <p:ext uri="{BB962C8B-B14F-4D97-AF65-F5344CB8AC3E}">
        <p14:creationId xmlns:p14="http://schemas.microsoft.com/office/powerpoint/2010/main" val="34639882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3867-4E32-4E2D-8739-58246E7E28D2}" type="slidenum">
              <a:rPr lang="ru-RU" smtClean="0"/>
              <a:t>8</a:t>
            </a:fld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09786FB-01F7-452E-A4BD-869797ABC1FC}"/>
              </a:ext>
            </a:extLst>
          </p:cNvPr>
          <p:cNvSpPr/>
          <p:nvPr/>
        </p:nvSpPr>
        <p:spPr>
          <a:xfrm>
            <a:off x="323528" y="1196752"/>
            <a:ext cx="65344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i="1" dirty="0">
                <a:solidFill>
                  <a:srgbClr val="9F2B22"/>
                </a:solidFill>
              </a:rPr>
              <a:t>Предобработка данных:</a:t>
            </a:r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329BEC8F-5E24-4832-A79A-8434F1D80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7744" y="166922"/>
            <a:ext cx="1800200" cy="706090"/>
          </a:xfrm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ru-RU" sz="1600" dirty="0"/>
              <a:t>Цель и метрики</a:t>
            </a:r>
          </a:p>
        </p:txBody>
      </p:sp>
      <p:sp>
        <p:nvSpPr>
          <p:cNvPr id="19" name="Заголовок 1">
            <a:extLst>
              <a:ext uri="{FF2B5EF4-FFF2-40B4-BE49-F238E27FC236}">
                <a16:creationId xmlns:a16="http://schemas.microsoft.com/office/drawing/2014/main" id="{27027EAA-CB1A-4767-BDA1-301308ABDE2C}"/>
              </a:ext>
            </a:extLst>
          </p:cNvPr>
          <p:cNvSpPr txBox="1">
            <a:spLocks/>
          </p:cNvSpPr>
          <p:nvPr/>
        </p:nvSpPr>
        <p:spPr>
          <a:xfrm>
            <a:off x="4067944" y="166922"/>
            <a:ext cx="1800200" cy="706090"/>
          </a:xfrm>
          <a:prstGeom prst="rect">
            <a:avLst/>
          </a:prstGeom>
          <a:solidFill>
            <a:srgbClr val="D8D2D2"/>
          </a:solidFill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sz="1600" cap="all" baseline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Парсинг и предобработка</a:t>
            </a:r>
          </a:p>
        </p:txBody>
      </p:sp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D9DA7918-51B7-4DD6-B8F3-3B2A316EE0A5}"/>
              </a:ext>
            </a:extLst>
          </p:cNvPr>
          <p:cNvSpPr txBox="1">
            <a:spLocks/>
          </p:cNvSpPr>
          <p:nvPr/>
        </p:nvSpPr>
        <p:spPr>
          <a:xfrm>
            <a:off x="5866184" y="166922"/>
            <a:ext cx="1549152" cy="706090"/>
          </a:xfrm>
          <a:prstGeom prst="rect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sz="1600" cap="all" baseline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Обучение моделей</a:t>
            </a:r>
          </a:p>
        </p:txBody>
      </p:sp>
      <p:sp>
        <p:nvSpPr>
          <p:cNvPr id="21" name="Заголовок 1">
            <a:extLst>
              <a:ext uri="{FF2B5EF4-FFF2-40B4-BE49-F238E27FC236}">
                <a16:creationId xmlns:a16="http://schemas.microsoft.com/office/drawing/2014/main" id="{8DEDAB48-C6B3-4981-9EB0-6156FB657DDE}"/>
              </a:ext>
            </a:extLst>
          </p:cNvPr>
          <p:cNvSpPr txBox="1">
            <a:spLocks/>
          </p:cNvSpPr>
          <p:nvPr/>
        </p:nvSpPr>
        <p:spPr>
          <a:xfrm>
            <a:off x="7415336" y="167589"/>
            <a:ext cx="1549152" cy="706090"/>
          </a:xfrm>
          <a:prstGeom prst="rect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1600" dirty="0"/>
              <a:t>Анализ ошибок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92AC008-0B65-4798-8FA5-79F0ECE89FF8}"/>
              </a:ext>
            </a:extLst>
          </p:cNvPr>
          <p:cNvSpPr/>
          <p:nvPr/>
        </p:nvSpPr>
        <p:spPr>
          <a:xfrm>
            <a:off x="359532" y="1772816"/>
            <a:ext cx="8424936" cy="4555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ru-RU" sz="2000" b="1" i="1" dirty="0"/>
              <a:t>Числовые признаки: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000" dirty="0"/>
              <a:t>year, duration,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feature engineering</a:t>
            </a:r>
            <a:r>
              <a:rPr lang="ru-RU" sz="2000" dirty="0"/>
              <a:t>: num_genres, num_countries,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000" dirty="0"/>
              <a:t>rating_count_log = log1p(rating_count).</a:t>
            </a:r>
          </a:p>
          <a:p>
            <a:pPr marL="285750" indent="-28575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ru-RU" sz="2000" b="1" i="1" dirty="0"/>
              <a:t>Категориальные: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000" dirty="0"/>
              <a:t>age_rating </a:t>
            </a:r>
            <a:r>
              <a:rPr lang="en-US" sz="2000" dirty="0"/>
              <a:t>-</a:t>
            </a:r>
            <a:r>
              <a:rPr lang="ru-RU" sz="2000" dirty="0"/>
              <a:t> OneHotEncoding.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000" dirty="0"/>
              <a:t>genres, countries </a:t>
            </a:r>
            <a:r>
              <a:rPr lang="en-US" sz="2000" dirty="0"/>
              <a:t>-</a:t>
            </a:r>
            <a:r>
              <a:rPr lang="ru-RU" sz="2000" dirty="0"/>
              <a:t> Bag-of-Words (CountVectorizer по токенам через запятую).</a:t>
            </a:r>
          </a:p>
          <a:p>
            <a:pPr marL="342900" indent="-34290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ru-RU" sz="2000" b="1" i="1" dirty="0"/>
              <a:t>Текст: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000" dirty="0"/>
              <a:t>description, title, original_title:</a:t>
            </a:r>
          </a:p>
          <a:p>
            <a:pPr marL="1257300" lvl="2" indent="-34290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ru-RU" sz="2000" dirty="0"/>
              <a:t>либо TF‑IDF (униграммы/биграммы),</a:t>
            </a:r>
          </a:p>
          <a:p>
            <a:pPr marL="1257300" lvl="2" indent="-34290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ru-RU" sz="2000" dirty="0"/>
              <a:t>либо CatBoost text features</a:t>
            </a:r>
            <a:r>
              <a:rPr lang="en-US" sz="2000" dirty="0"/>
              <a:t>.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8207274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3867-4E32-4E2D-8739-58246E7E28D2}" type="slidenum">
              <a:rPr lang="ru-RU" smtClean="0"/>
              <a:t>9</a:t>
            </a:fld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09786FB-01F7-452E-A4BD-869797ABC1FC}"/>
              </a:ext>
            </a:extLst>
          </p:cNvPr>
          <p:cNvSpPr/>
          <p:nvPr/>
        </p:nvSpPr>
        <p:spPr>
          <a:xfrm>
            <a:off x="395536" y="1298562"/>
            <a:ext cx="65344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i="1" dirty="0">
                <a:solidFill>
                  <a:srgbClr val="9F2B22"/>
                </a:solidFill>
              </a:rPr>
              <a:t>Предобработка данных:</a:t>
            </a:r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329BEC8F-5E24-4832-A79A-8434F1D80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7744" y="166922"/>
            <a:ext cx="1800200" cy="706090"/>
          </a:xfrm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ru-RU" sz="1600" dirty="0"/>
              <a:t>Цель и метрики</a:t>
            </a:r>
          </a:p>
        </p:txBody>
      </p:sp>
      <p:sp>
        <p:nvSpPr>
          <p:cNvPr id="19" name="Заголовок 1">
            <a:extLst>
              <a:ext uri="{FF2B5EF4-FFF2-40B4-BE49-F238E27FC236}">
                <a16:creationId xmlns:a16="http://schemas.microsoft.com/office/drawing/2014/main" id="{27027EAA-CB1A-4767-BDA1-301308ABDE2C}"/>
              </a:ext>
            </a:extLst>
          </p:cNvPr>
          <p:cNvSpPr txBox="1">
            <a:spLocks/>
          </p:cNvSpPr>
          <p:nvPr/>
        </p:nvSpPr>
        <p:spPr>
          <a:xfrm>
            <a:off x="4067944" y="166922"/>
            <a:ext cx="1800200" cy="706090"/>
          </a:xfrm>
          <a:prstGeom prst="rect">
            <a:avLst/>
          </a:prstGeom>
          <a:solidFill>
            <a:srgbClr val="D8D2D2"/>
          </a:solidFill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sz="1600" cap="all" baseline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Парсинг и предобработка</a:t>
            </a:r>
          </a:p>
        </p:txBody>
      </p:sp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D9DA7918-51B7-4DD6-B8F3-3B2A316EE0A5}"/>
              </a:ext>
            </a:extLst>
          </p:cNvPr>
          <p:cNvSpPr txBox="1">
            <a:spLocks/>
          </p:cNvSpPr>
          <p:nvPr/>
        </p:nvSpPr>
        <p:spPr>
          <a:xfrm>
            <a:off x="5866184" y="166922"/>
            <a:ext cx="1549152" cy="706090"/>
          </a:xfrm>
          <a:prstGeom prst="rect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sz="1600" cap="all" baseline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Обучение моделей</a:t>
            </a:r>
          </a:p>
        </p:txBody>
      </p:sp>
      <p:sp>
        <p:nvSpPr>
          <p:cNvPr id="21" name="Заголовок 1">
            <a:extLst>
              <a:ext uri="{FF2B5EF4-FFF2-40B4-BE49-F238E27FC236}">
                <a16:creationId xmlns:a16="http://schemas.microsoft.com/office/drawing/2014/main" id="{8DEDAB48-C6B3-4981-9EB0-6156FB657DDE}"/>
              </a:ext>
            </a:extLst>
          </p:cNvPr>
          <p:cNvSpPr txBox="1">
            <a:spLocks/>
          </p:cNvSpPr>
          <p:nvPr/>
        </p:nvSpPr>
        <p:spPr>
          <a:xfrm>
            <a:off x="7415336" y="167589"/>
            <a:ext cx="1549152" cy="706090"/>
          </a:xfrm>
          <a:prstGeom prst="rect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1600" dirty="0"/>
              <a:t>Анализ ошибок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9B6DF65-DE53-446C-9E4C-EBA162E97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2204864"/>
            <a:ext cx="8442684" cy="3165194"/>
          </a:xfrm>
          <a:prstGeom prst="rect">
            <a:avLst/>
          </a:prstGeom>
          <a:ln>
            <a:solidFill>
              <a:srgbClr val="9B271E"/>
            </a:solidFill>
          </a:ln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C637AA7-F8F5-4398-A286-1DF774034311}"/>
              </a:ext>
            </a:extLst>
          </p:cNvPr>
          <p:cNvSpPr/>
          <p:nvPr/>
        </p:nvSpPr>
        <p:spPr>
          <a:xfrm>
            <a:off x="4644008" y="1783791"/>
            <a:ext cx="19944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9B271E"/>
                </a:solidFill>
              </a:rPr>
              <a:t>масштабирование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B667695-DD84-4566-A023-0ADC357ADA2B}"/>
              </a:ext>
            </a:extLst>
          </p:cNvPr>
          <p:cNvSpPr/>
          <p:nvPr/>
        </p:nvSpPr>
        <p:spPr>
          <a:xfrm>
            <a:off x="3038845" y="5587638"/>
            <a:ext cx="34831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9B271E"/>
                </a:solidFill>
              </a:rPr>
              <a:t>мешок по токенам через запятую</a:t>
            </a:r>
          </a:p>
        </p:txBody>
      </p:sp>
      <p:cxnSp>
        <p:nvCxnSpPr>
          <p:cNvPr id="10" name="Соединитель: уступ 9">
            <a:extLst>
              <a:ext uri="{FF2B5EF4-FFF2-40B4-BE49-F238E27FC236}">
                <a16:creationId xmlns:a16="http://schemas.microsoft.com/office/drawing/2014/main" id="{37679D09-A99D-46CF-B8D7-A19EC8643BC4}"/>
              </a:ext>
            </a:extLst>
          </p:cNvPr>
          <p:cNvCxnSpPr>
            <a:cxnSpLocks/>
            <a:stCxn id="8" idx="3"/>
          </p:cNvCxnSpPr>
          <p:nvPr/>
        </p:nvCxnSpPr>
        <p:spPr>
          <a:xfrm flipH="1">
            <a:off x="4211961" y="1968457"/>
            <a:ext cx="2426504" cy="1028495"/>
          </a:xfrm>
          <a:prstGeom prst="bentConnector3">
            <a:avLst>
              <a:gd name="adj1" fmla="val -61542"/>
            </a:avLst>
          </a:prstGeom>
          <a:ln w="19050">
            <a:solidFill>
              <a:srgbClr val="9B271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Соединитель: уступ 26">
            <a:extLst>
              <a:ext uri="{FF2B5EF4-FFF2-40B4-BE49-F238E27FC236}">
                <a16:creationId xmlns:a16="http://schemas.microsoft.com/office/drawing/2014/main" id="{98BFF628-1540-4606-81AC-E8E4B0C78872}"/>
              </a:ext>
            </a:extLst>
          </p:cNvPr>
          <p:cNvCxnSpPr>
            <a:cxnSpLocks/>
          </p:cNvCxnSpPr>
          <p:nvPr/>
        </p:nvCxnSpPr>
        <p:spPr>
          <a:xfrm flipV="1">
            <a:off x="6516216" y="4509120"/>
            <a:ext cx="1673696" cy="1294566"/>
          </a:xfrm>
          <a:prstGeom prst="bentConnector3">
            <a:avLst>
              <a:gd name="adj1" fmla="val 142948"/>
            </a:avLst>
          </a:prstGeom>
          <a:ln w="19050">
            <a:solidFill>
              <a:srgbClr val="9B271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16257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3867-4E32-4E2D-8739-58246E7E28D2}" type="slidenum">
              <a:rPr lang="ru-RU" smtClean="0"/>
              <a:t>10</a:t>
            </a:fld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09786FB-01F7-452E-A4BD-869797ABC1FC}"/>
              </a:ext>
            </a:extLst>
          </p:cNvPr>
          <p:cNvSpPr/>
          <p:nvPr/>
        </p:nvSpPr>
        <p:spPr>
          <a:xfrm>
            <a:off x="323528" y="1116728"/>
            <a:ext cx="65344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i="1" dirty="0">
                <a:solidFill>
                  <a:srgbClr val="9F2B22"/>
                </a:solidFill>
              </a:rPr>
              <a:t>Предобработка данных:</a:t>
            </a:r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329BEC8F-5E24-4832-A79A-8434F1D80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7744" y="166922"/>
            <a:ext cx="1800200" cy="706090"/>
          </a:xfrm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ru-RU" sz="1600" dirty="0"/>
              <a:t>Цель и метрики</a:t>
            </a:r>
          </a:p>
        </p:txBody>
      </p:sp>
      <p:sp>
        <p:nvSpPr>
          <p:cNvPr id="19" name="Заголовок 1">
            <a:extLst>
              <a:ext uri="{FF2B5EF4-FFF2-40B4-BE49-F238E27FC236}">
                <a16:creationId xmlns:a16="http://schemas.microsoft.com/office/drawing/2014/main" id="{27027EAA-CB1A-4767-BDA1-301308ABDE2C}"/>
              </a:ext>
            </a:extLst>
          </p:cNvPr>
          <p:cNvSpPr txBox="1">
            <a:spLocks/>
          </p:cNvSpPr>
          <p:nvPr/>
        </p:nvSpPr>
        <p:spPr>
          <a:xfrm>
            <a:off x="4067944" y="166922"/>
            <a:ext cx="1800200" cy="706090"/>
          </a:xfrm>
          <a:prstGeom prst="rect">
            <a:avLst/>
          </a:prstGeom>
          <a:solidFill>
            <a:srgbClr val="D8D2D2"/>
          </a:solidFill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sz="1600" cap="all" baseline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Парсинг и предобработка</a:t>
            </a:r>
          </a:p>
        </p:txBody>
      </p:sp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D9DA7918-51B7-4DD6-B8F3-3B2A316EE0A5}"/>
              </a:ext>
            </a:extLst>
          </p:cNvPr>
          <p:cNvSpPr txBox="1">
            <a:spLocks/>
          </p:cNvSpPr>
          <p:nvPr/>
        </p:nvSpPr>
        <p:spPr>
          <a:xfrm>
            <a:off x="5866184" y="166922"/>
            <a:ext cx="1549152" cy="706090"/>
          </a:xfrm>
          <a:prstGeom prst="rect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sz="1600" cap="all" baseline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Обучение моделей</a:t>
            </a:r>
          </a:p>
        </p:txBody>
      </p:sp>
      <p:sp>
        <p:nvSpPr>
          <p:cNvPr id="21" name="Заголовок 1">
            <a:extLst>
              <a:ext uri="{FF2B5EF4-FFF2-40B4-BE49-F238E27FC236}">
                <a16:creationId xmlns:a16="http://schemas.microsoft.com/office/drawing/2014/main" id="{8DEDAB48-C6B3-4981-9EB0-6156FB657DDE}"/>
              </a:ext>
            </a:extLst>
          </p:cNvPr>
          <p:cNvSpPr txBox="1">
            <a:spLocks/>
          </p:cNvSpPr>
          <p:nvPr/>
        </p:nvSpPr>
        <p:spPr>
          <a:xfrm>
            <a:off x="7415336" y="167589"/>
            <a:ext cx="1549152" cy="706090"/>
          </a:xfrm>
          <a:prstGeom prst="rect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1600" dirty="0"/>
              <a:t>Анализ ошибок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180BC53-BA32-479E-B870-03BE2681E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1700808"/>
            <a:ext cx="6702906" cy="4762720"/>
          </a:xfrm>
          <a:prstGeom prst="rect">
            <a:avLst/>
          </a:prstGeom>
          <a:ln>
            <a:solidFill>
              <a:srgbClr val="9B271E"/>
            </a:solidFill>
          </a:ln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6C4B3AB-0051-4E69-BD18-4AD8F422B466}"/>
              </a:ext>
            </a:extLst>
          </p:cNvPr>
          <p:cNvSpPr/>
          <p:nvPr/>
        </p:nvSpPr>
        <p:spPr>
          <a:xfrm>
            <a:off x="5796136" y="2233669"/>
            <a:ext cx="7793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9B271E"/>
                </a:solidFill>
              </a:rPr>
              <a:t>TF-IDF</a:t>
            </a:r>
            <a:endParaRPr lang="ru-RU" dirty="0">
              <a:solidFill>
                <a:srgbClr val="9B271E"/>
              </a:solidFill>
            </a:endParaRPr>
          </a:p>
        </p:txBody>
      </p:sp>
      <p:cxnSp>
        <p:nvCxnSpPr>
          <p:cNvPr id="10" name="Соединитель: уступ 9">
            <a:extLst>
              <a:ext uri="{FF2B5EF4-FFF2-40B4-BE49-F238E27FC236}">
                <a16:creationId xmlns:a16="http://schemas.microsoft.com/office/drawing/2014/main" id="{2E2E9C1C-9EA4-44A0-8023-3FEBEFFCAF52}"/>
              </a:ext>
            </a:extLst>
          </p:cNvPr>
          <p:cNvCxnSpPr>
            <a:cxnSpLocks/>
          </p:cNvCxnSpPr>
          <p:nvPr/>
        </p:nvCxnSpPr>
        <p:spPr>
          <a:xfrm rot="10800000">
            <a:off x="3167844" y="1844824"/>
            <a:ext cx="2628292" cy="504056"/>
          </a:xfrm>
          <a:prstGeom prst="bentConnector3">
            <a:avLst>
              <a:gd name="adj1" fmla="val 50000"/>
            </a:avLst>
          </a:prstGeom>
          <a:ln w="19050">
            <a:solidFill>
              <a:srgbClr val="9B271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Соединитель: уступ 16">
            <a:extLst>
              <a:ext uri="{FF2B5EF4-FFF2-40B4-BE49-F238E27FC236}">
                <a16:creationId xmlns:a16="http://schemas.microsoft.com/office/drawing/2014/main" id="{74D99F08-43BB-4E6F-BB7A-A3A5024388B0}"/>
              </a:ext>
            </a:extLst>
          </p:cNvPr>
          <p:cNvCxnSpPr>
            <a:cxnSpLocks/>
          </p:cNvCxnSpPr>
          <p:nvPr/>
        </p:nvCxnSpPr>
        <p:spPr>
          <a:xfrm rot="10800000" flipV="1">
            <a:off x="3167844" y="2492894"/>
            <a:ext cx="2628292" cy="1008113"/>
          </a:xfrm>
          <a:prstGeom prst="bentConnector3">
            <a:avLst>
              <a:gd name="adj1" fmla="val 50000"/>
            </a:avLst>
          </a:prstGeom>
          <a:ln w="19050">
            <a:solidFill>
              <a:srgbClr val="9B271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28922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3867-4E32-4E2D-8739-58246E7E28D2}" type="slidenum">
              <a:rPr lang="ru-RU" smtClean="0"/>
              <a:t>11</a:t>
            </a:fld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869B913-CE44-45C3-9D3C-FCE2D6178555}"/>
              </a:ext>
            </a:extLst>
          </p:cNvPr>
          <p:cNvSpPr/>
          <p:nvPr/>
        </p:nvSpPr>
        <p:spPr>
          <a:xfrm>
            <a:off x="323528" y="1268760"/>
            <a:ext cx="83529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i="1" dirty="0">
                <a:solidFill>
                  <a:srgbClr val="9F2B22"/>
                </a:solidFill>
              </a:rPr>
              <a:t>Подход к обучению: признаки + </a:t>
            </a:r>
            <a:r>
              <a:rPr lang="ru-RU" sz="2400" b="1" i="1" dirty="0" err="1">
                <a:solidFill>
                  <a:srgbClr val="9F2B22"/>
                </a:solidFill>
              </a:rPr>
              <a:t>baseline</a:t>
            </a:r>
            <a:r>
              <a:rPr lang="ru-RU" sz="2400" b="1" i="1" dirty="0">
                <a:solidFill>
                  <a:srgbClr val="9F2B22"/>
                </a:solidFill>
              </a:rPr>
              <a:t> + валидация</a:t>
            </a: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1DE9B383-3239-4A26-9323-5FEBFE062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7744" y="166922"/>
            <a:ext cx="1800200" cy="706090"/>
          </a:xfrm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ru-RU" sz="1600" dirty="0"/>
              <a:t>Цель и метрики</a:t>
            </a:r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0F9BEE41-2839-48D8-9B0C-725ED57AE9AB}"/>
              </a:ext>
            </a:extLst>
          </p:cNvPr>
          <p:cNvSpPr txBox="1">
            <a:spLocks/>
          </p:cNvSpPr>
          <p:nvPr/>
        </p:nvSpPr>
        <p:spPr>
          <a:xfrm>
            <a:off x="4067944" y="166922"/>
            <a:ext cx="1800200" cy="706090"/>
          </a:xfrm>
          <a:prstGeom prst="rect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sz="1600" cap="all" baseline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Парсинг и предобработка</a:t>
            </a:r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E5F10F00-AE4C-4E28-88BD-3878CE6F6CC6}"/>
              </a:ext>
            </a:extLst>
          </p:cNvPr>
          <p:cNvSpPr txBox="1">
            <a:spLocks/>
          </p:cNvSpPr>
          <p:nvPr/>
        </p:nvSpPr>
        <p:spPr>
          <a:xfrm>
            <a:off x="5866184" y="166922"/>
            <a:ext cx="1549152" cy="706090"/>
          </a:xfrm>
          <a:prstGeom prst="rect">
            <a:avLst/>
          </a:prstGeom>
          <a:solidFill>
            <a:srgbClr val="D8D2D2"/>
          </a:solidFill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sz="1600" cap="all" baseline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Обучение моделей</a:t>
            </a:r>
          </a:p>
        </p:txBody>
      </p:sp>
      <p:sp>
        <p:nvSpPr>
          <p:cNvPr id="19" name="Заголовок 1">
            <a:extLst>
              <a:ext uri="{FF2B5EF4-FFF2-40B4-BE49-F238E27FC236}">
                <a16:creationId xmlns:a16="http://schemas.microsoft.com/office/drawing/2014/main" id="{B4C12C98-878B-4E72-98DF-C141EFB2E223}"/>
              </a:ext>
            </a:extLst>
          </p:cNvPr>
          <p:cNvSpPr txBox="1">
            <a:spLocks/>
          </p:cNvSpPr>
          <p:nvPr/>
        </p:nvSpPr>
        <p:spPr>
          <a:xfrm>
            <a:off x="7415336" y="167589"/>
            <a:ext cx="1549152" cy="706090"/>
          </a:xfrm>
          <a:prstGeom prst="rect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1600" dirty="0"/>
              <a:t>Анализ ошибок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3F5C2B1F-7D18-40D0-AC77-6DDD2C8F1362}"/>
              </a:ext>
            </a:extLst>
          </p:cNvPr>
          <p:cNvSpPr/>
          <p:nvPr/>
        </p:nvSpPr>
        <p:spPr>
          <a:xfrm>
            <a:off x="467544" y="2533596"/>
            <a:ext cx="8064896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1200"/>
              </a:spcBef>
              <a:buFont typeface="Courier New" panose="02070309020205020404" pitchFamily="49" charset="0"/>
              <a:buChar char="o"/>
            </a:pPr>
            <a:r>
              <a:rPr lang="ru-RU" sz="2000" dirty="0"/>
              <a:t>Всегда предсказывает </a:t>
            </a:r>
            <a:r>
              <a:rPr lang="ru-RU" sz="2000" u="sng" dirty="0"/>
              <a:t>средний рейтинг</a:t>
            </a:r>
            <a:r>
              <a:rPr lang="ru-RU" sz="2000" dirty="0"/>
              <a:t> из обучающей выборки;</a:t>
            </a:r>
          </a:p>
          <a:p>
            <a:pPr marL="342900" indent="-342900">
              <a:spcBef>
                <a:spcPts val="1200"/>
              </a:spcBef>
              <a:buFont typeface="Courier New" panose="02070309020205020404" pitchFamily="49" charset="0"/>
              <a:buChar char="o"/>
            </a:pPr>
            <a:r>
              <a:rPr lang="ru-RU" sz="2000" dirty="0"/>
              <a:t>По ней мы будем судить о нижней границе качества.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CF5C022-0714-47A2-A0D8-2732EE03BF37}"/>
              </a:ext>
            </a:extLst>
          </p:cNvPr>
          <p:cNvSpPr/>
          <p:nvPr/>
        </p:nvSpPr>
        <p:spPr>
          <a:xfrm>
            <a:off x="287524" y="4221088"/>
            <a:ext cx="8424936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1200"/>
              </a:spcBef>
              <a:buFont typeface="Courier New" panose="02070309020205020404" pitchFamily="49" charset="0"/>
              <a:buChar char="o"/>
            </a:pPr>
            <a:r>
              <a:rPr lang="ru-RU" sz="2000" b="1" i="1" dirty="0"/>
              <a:t>Линейная модель (</a:t>
            </a:r>
            <a:r>
              <a:rPr lang="ru-RU" sz="2000" b="1" i="1" dirty="0" err="1"/>
              <a:t>Ridge</a:t>
            </a:r>
            <a:r>
              <a:rPr lang="ru-RU" sz="2000" b="1" i="1" dirty="0"/>
              <a:t>) </a:t>
            </a:r>
            <a:r>
              <a:rPr lang="ru-RU" sz="2000" dirty="0"/>
              <a:t>на разреженных признаках.</a:t>
            </a:r>
          </a:p>
          <a:p>
            <a:pPr marL="285750" indent="-285750">
              <a:spcBef>
                <a:spcPts val="1200"/>
              </a:spcBef>
              <a:buFont typeface="Courier New" panose="02070309020205020404" pitchFamily="49" charset="0"/>
              <a:buChar char="o"/>
            </a:pPr>
            <a:r>
              <a:rPr lang="ru-RU" sz="2000" b="1" i="1" dirty="0"/>
              <a:t>Ансамбли</a:t>
            </a:r>
            <a:r>
              <a:rPr lang="ru-RU" sz="2000" dirty="0"/>
              <a:t> (RandomForest/градиентный </a:t>
            </a:r>
            <a:r>
              <a:rPr lang="ru-RU" sz="2000" dirty="0" err="1"/>
              <a:t>бустинг</a:t>
            </a:r>
            <a:r>
              <a:rPr lang="ru-RU" sz="2000" dirty="0"/>
              <a:t>) - но для них потребуется сжатие признаков (SVD), чтобы работать с текстом эффективно.</a:t>
            </a:r>
          </a:p>
          <a:p>
            <a:pPr marL="285750" indent="-285750">
              <a:spcBef>
                <a:spcPts val="1200"/>
              </a:spcBef>
              <a:buFont typeface="Courier New" panose="02070309020205020404" pitchFamily="49" charset="0"/>
              <a:buChar char="o"/>
            </a:pPr>
            <a:r>
              <a:rPr lang="ru-RU" sz="2000" b="1" i="1" dirty="0"/>
              <a:t>CatBoost</a:t>
            </a:r>
            <a:r>
              <a:rPr lang="ru-RU" sz="2000" dirty="0"/>
              <a:t> - будет комбинировать числа + категории + текст.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1E67148-07AE-4F63-83C7-06DC751E9A3B}"/>
              </a:ext>
            </a:extLst>
          </p:cNvPr>
          <p:cNvSpPr/>
          <p:nvPr/>
        </p:nvSpPr>
        <p:spPr>
          <a:xfrm>
            <a:off x="179512" y="1954776"/>
            <a:ext cx="37720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i="1" dirty="0">
                <a:solidFill>
                  <a:srgbClr val="9F2B22"/>
                </a:solidFill>
              </a:rPr>
              <a:t>Базовая модель (</a:t>
            </a:r>
            <a:r>
              <a:rPr lang="ru-RU" sz="2400" b="1" i="1" dirty="0" err="1">
                <a:solidFill>
                  <a:srgbClr val="9F2B22"/>
                </a:solidFill>
              </a:rPr>
              <a:t>Baseline</a:t>
            </a:r>
            <a:r>
              <a:rPr lang="ru-RU" sz="2400" b="1" i="1" dirty="0">
                <a:solidFill>
                  <a:srgbClr val="9F2B22"/>
                </a:solidFill>
              </a:rPr>
              <a:t>):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1D1F719-67E4-4535-B02B-FC02B90E7CB2}"/>
              </a:ext>
            </a:extLst>
          </p:cNvPr>
          <p:cNvSpPr/>
          <p:nvPr/>
        </p:nvSpPr>
        <p:spPr>
          <a:xfrm>
            <a:off x="179512" y="3577396"/>
            <a:ext cx="23075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i="1" dirty="0">
                <a:solidFill>
                  <a:srgbClr val="9F2B22"/>
                </a:solidFill>
              </a:rPr>
              <a:t>Другие модели:</a:t>
            </a:r>
          </a:p>
        </p:txBody>
      </p:sp>
    </p:spTree>
    <p:extLst>
      <p:ext uri="{BB962C8B-B14F-4D97-AF65-F5344CB8AC3E}">
        <p14:creationId xmlns:p14="http://schemas.microsoft.com/office/powerpoint/2010/main" val="1678826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3867-4E32-4E2D-8739-58246E7E28D2}" type="slidenum">
              <a:rPr lang="ru-RU" smtClean="0"/>
              <a:t>12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7C5B09E9-61D0-438E-A4C7-C10A6BDC1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7744" y="166922"/>
            <a:ext cx="1800200" cy="706090"/>
          </a:xfrm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ru-RU" sz="1600" dirty="0"/>
              <a:t>Цель и метрики</a:t>
            </a:r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B5BABA6D-DCF2-4731-8341-E305FD099807}"/>
              </a:ext>
            </a:extLst>
          </p:cNvPr>
          <p:cNvSpPr txBox="1">
            <a:spLocks/>
          </p:cNvSpPr>
          <p:nvPr/>
        </p:nvSpPr>
        <p:spPr>
          <a:xfrm>
            <a:off x="4067944" y="166922"/>
            <a:ext cx="1800200" cy="706090"/>
          </a:xfrm>
          <a:prstGeom prst="rect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sz="1600" cap="all" baseline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Парсинг и предобработка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AA3BFDEE-22AE-4AD2-950D-E574E847F6BB}"/>
              </a:ext>
            </a:extLst>
          </p:cNvPr>
          <p:cNvSpPr txBox="1">
            <a:spLocks/>
          </p:cNvSpPr>
          <p:nvPr/>
        </p:nvSpPr>
        <p:spPr>
          <a:xfrm>
            <a:off x="5866184" y="166922"/>
            <a:ext cx="1549152" cy="706090"/>
          </a:xfrm>
          <a:prstGeom prst="rect">
            <a:avLst/>
          </a:prstGeom>
          <a:solidFill>
            <a:srgbClr val="D8D2D2"/>
          </a:solidFill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sz="1600" cap="all" baseline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Обучение моделей</a:t>
            </a:r>
          </a:p>
        </p:txBody>
      </p:sp>
      <p:sp>
        <p:nvSpPr>
          <p:cNvPr id="27" name="Заголовок 1">
            <a:extLst>
              <a:ext uri="{FF2B5EF4-FFF2-40B4-BE49-F238E27FC236}">
                <a16:creationId xmlns:a16="http://schemas.microsoft.com/office/drawing/2014/main" id="{FBCF01BD-A9B3-4587-9BD3-5ED31E5DF962}"/>
              </a:ext>
            </a:extLst>
          </p:cNvPr>
          <p:cNvSpPr txBox="1">
            <a:spLocks/>
          </p:cNvSpPr>
          <p:nvPr/>
        </p:nvSpPr>
        <p:spPr>
          <a:xfrm>
            <a:off x="7415336" y="167589"/>
            <a:ext cx="1549152" cy="706090"/>
          </a:xfrm>
          <a:prstGeom prst="rect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1600" dirty="0"/>
              <a:t>Анализ ошибок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C460D9C9-BFE3-41F7-B8CC-1EDCDB1BC9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230447"/>
            <a:ext cx="6768752" cy="675895"/>
          </a:xfrm>
          <a:prstGeom prst="rect">
            <a:avLst/>
          </a:prstGeom>
          <a:ln>
            <a:solidFill>
              <a:srgbClr val="9B271E"/>
            </a:solidFill>
          </a:ln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E30BA506-6170-4F84-BF71-51A6E5E5B2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2196103"/>
            <a:ext cx="4555519" cy="4023777"/>
          </a:xfrm>
          <a:prstGeom prst="rect">
            <a:avLst/>
          </a:prstGeom>
          <a:ln>
            <a:solidFill>
              <a:srgbClr val="9B271E"/>
            </a:solidFill>
          </a:ln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57682327-6A82-4381-979A-774A0F1366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032" y="2196102"/>
            <a:ext cx="3888432" cy="4031965"/>
          </a:xfrm>
          <a:prstGeom prst="rect">
            <a:avLst/>
          </a:prstGeom>
          <a:ln>
            <a:solidFill>
              <a:srgbClr val="9B271E"/>
            </a:solidFill>
          </a:ln>
        </p:spPr>
      </p:pic>
    </p:spTree>
    <p:extLst>
      <p:ext uri="{BB962C8B-B14F-4D97-AF65-F5344CB8AC3E}">
        <p14:creationId xmlns:p14="http://schemas.microsoft.com/office/powerpoint/2010/main" val="40015571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3867-4E32-4E2D-8739-58246E7E28D2}" type="slidenum">
              <a:rPr lang="ru-RU" smtClean="0"/>
              <a:t>13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7C5B09E9-61D0-438E-A4C7-C10A6BDC1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7744" y="166922"/>
            <a:ext cx="1800200" cy="706090"/>
          </a:xfrm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ru-RU" sz="1600" dirty="0"/>
              <a:t>Цель и метрики</a:t>
            </a:r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B5BABA6D-DCF2-4731-8341-E305FD099807}"/>
              </a:ext>
            </a:extLst>
          </p:cNvPr>
          <p:cNvSpPr txBox="1">
            <a:spLocks/>
          </p:cNvSpPr>
          <p:nvPr/>
        </p:nvSpPr>
        <p:spPr>
          <a:xfrm>
            <a:off x="4067944" y="166922"/>
            <a:ext cx="1800200" cy="706090"/>
          </a:xfrm>
          <a:prstGeom prst="rect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sz="1600" cap="all" baseline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Парсинг и предобработка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AA3BFDEE-22AE-4AD2-950D-E574E847F6BB}"/>
              </a:ext>
            </a:extLst>
          </p:cNvPr>
          <p:cNvSpPr txBox="1">
            <a:spLocks/>
          </p:cNvSpPr>
          <p:nvPr/>
        </p:nvSpPr>
        <p:spPr>
          <a:xfrm>
            <a:off x="5866184" y="166922"/>
            <a:ext cx="1549152" cy="706090"/>
          </a:xfrm>
          <a:prstGeom prst="rect">
            <a:avLst/>
          </a:prstGeom>
          <a:solidFill>
            <a:srgbClr val="D8D2D2"/>
          </a:solidFill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sz="1600" cap="all" baseline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Обучение моделей</a:t>
            </a:r>
          </a:p>
        </p:txBody>
      </p:sp>
      <p:sp>
        <p:nvSpPr>
          <p:cNvPr id="27" name="Заголовок 1">
            <a:extLst>
              <a:ext uri="{FF2B5EF4-FFF2-40B4-BE49-F238E27FC236}">
                <a16:creationId xmlns:a16="http://schemas.microsoft.com/office/drawing/2014/main" id="{FBCF01BD-A9B3-4587-9BD3-5ED31E5DF962}"/>
              </a:ext>
            </a:extLst>
          </p:cNvPr>
          <p:cNvSpPr txBox="1">
            <a:spLocks/>
          </p:cNvSpPr>
          <p:nvPr/>
        </p:nvSpPr>
        <p:spPr>
          <a:xfrm>
            <a:off x="7415336" y="167589"/>
            <a:ext cx="1549152" cy="706090"/>
          </a:xfrm>
          <a:prstGeom prst="rect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1600" dirty="0"/>
              <a:t>Анализ ошибок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AAB2F6D-DF8B-4FCB-9DD4-533F57CCAC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1118709"/>
            <a:ext cx="6543400" cy="5301165"/>
          </a:xfrm>
          <a:prstGeom prst="rect">
            <a:avLst/>
          </a:prstGeom>
          <a:ln>
            <a:solidFill>
              <a:srgbClr val="9B271E"/>
            </a:solidFill>
          </a:ln>
        </p:spPr>
      </p:pic>
    </p:spTree>
    <p:extLst>
      <p:ext uri="{BB962C8B-B14F-4D97-AF65-F5344CB8AC3E}">
        <p14:creationId xmlns:p14="http://schemas.microsoft.com/office/powerpoint/2010/main" val="19620476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3867-4E32-4E2D-8739-58246E7E28D2}" type="slidenum">
              <a:rPr lang="ru-RU" smtClean="0"/>
              <a:t>14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7C5B09E9-61D0-438E-A4C7-C10A6BDC1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7744" y="166922"/>
            <a:ext cx="1800200" cy="706090"/>
          </a:xfrm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ru-RU" sz="1600" dirty="0"/>
              <a:t>Цель и метрики</a:t>
            </a:r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B5BABA6D-DCF2-4731-8341-E305FD099807}"/>
              </a:ext>
            </a:extLst>
          </p:cNvPr>
          <p:cNvSpPr txBox="1">
            <a:spLocks/>
          </p:cNvSpPr>
          <p:nvPr/>
        </p:nvSpPr>
        <p:spPr>
          <a:xfrm>
            <a:off x="4067944" y="166922"/>
            <a:ext cx="1800200" cy="706090"/>
          </a:xfrm>
          <a:prstGeom prst="rect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sz="1600" cap="all" baseline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Парсинг и предобработка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AA3BFDEE-22AE-4AD2-950D-E574E847F6BB}"/>
              </a:ext>
            </a:extLst>
          </p:cNvPr>
          <p:cNvSpPr txBox="1">
            <a:spLocks/>
          </p:cNvSpPr>
          <p:nvPr/>
        </p:nvSpPr>
        <p:spPr>
          <a:xfrm>
            <a:off x="5866184" y="166922"/>
            <a:ext cx="1549152" cy="706090"/>
          </a:xfrm>
          <a:prstGeom prst="rect">
            <a:avLst/>
          </a:prstGeom>
          <a:solidFill>
            <a:srgbClr val="D8D2D2"/>
          </a:solidFill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sz="1600" cap="all" baseline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Обучение моделей</a:t>
            </a:r>
          </a:p>
        </p:txBody>
      </p:sp>
      <p:sp>
        <p:nvSpPr>
          <p:cNvPr id="27" name="Заголовок 1">
            <a:extLst>
              <a:ext uri="{FF2B5EF4-FFF2-40B4-BE49-F238E27FC236}">
                <a16:creationId xmlns:a16="http://schemas.microsoft.com/office/drawing/2014/main" id="{FBCF01BD-A9B3-4587-9BD3-5ED31E5DF962}"/>
              </a:ext>
            </a:extLst>
          </p:cNvPr>
          <p:cNvSpPr txBox="1">
            <a:spLocks/>
          </p:cNvSpPr>
          <p:nvPr/>
        </p:nvSpPr>
        <p:spPr>
          <a:xfrm>
            <a:off x="7415336" y="167589"/>
            <a:ext cx="1549152" cy="706090"/>
          </a:xfrm>
          <a:prstGeom prst="rect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1600" dirty="0"/>
              <a:t>Анализ ошибок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5733794-5FCC-4532-8360-185A8662533C}"/>
              </a:ext>
            </a:extLst>
          </p:cNvPr>
          <p:cNvSpPr/>
          <p:nvPr/>
        </p:nvSpPr>
        <p:spPr>
          <a:xfrm>
            <a:off x="241188" y="1196752"/>
            <a:ext cx="63995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i="1" dirty="0">
                <a:solidFill>
                  <a:srgbClr val="9F2B22"/>
                </a:solidFill>
              </a:rPr>
              <a:t>Результаты моделей (</a:t>
            </a:r>
            <a:r>
              <a:rPr lang="en-US" sz="2400" b="1" i="1" dirty="0">
                <a:solidFill>
                  <a:srgbClr val="9F2B22"/>
                </a:solidFill>
              </a:rPr>
              <a:t>MAE/RMSE </a:t>
            </a:r>
            <a:r>
              <a:rPr lang="ru-RU" sz="2400" b="1" i="1" dirty="0">
                <a:solidFill>
                  <a:srgbClr val="9F2B22"/>
                </a:solidFill>
              </a:rPr>
              <a:t>на тесте</a:t>
            </a:r>
            <a:r>
              <a:rPr lang="en-US" sz="2400" b="1" i="1" dirty="0">
                <a:solidFill>
                  <a:srgbClr val="9F2B22"/>
                </a:solidFill>
              </a:rPr>
              <a:t>)</a:t>
            </a:r>
            <a:r>
              <a:rPr lang="ru-RU" sz="2400" b="1" i="1" dirty="0">
                <a:solidFill>
                  <a:srgbClr val="9F2B22"/>
                </a:solidFill>
              </a:rPr>
              <a:t>: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DF58395-525C-496D-BAEB-0612E9BFA882}"/>
              </a:ext>
            </a:extLst>
          </p:cNvPr>
          <p:cNvSpPr/>
          <p:nvPr/>
        </p:nvSpPr>
        <p:spPr>
          <a:xfrm>
            <a:off x="167170" y="5485789"/>
            <a:ext cx="84969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i="1" dirty="0">
                <a:solidFill>
                  <a:srgbClr val="9F2B22"/>
                </a:solidFill>
              </a:rPr>
              <a:t>Итог:</a:t>
            </a:r>
            <a:r>
              <a:rPr lang="ru-RU" dirty="0"/>
              <a:t> Лучшая по </a:t>
            </a:r>
            <a:r>
              <a:rPr lang="en-US" dirty="0"/>
              <a:t>MAE </a:t>
            </a:r>
            <a:r>
              <a:rPr lang="ru-RU" dirty="0"/>
              <a:t>на тесте — </a:t>
            </a:r>
            <a:r>
              <a:rPr lang="en-US" b="1" i="1" dirty="0"/>
              <a:t>Ridge</a:t>
            </a:r>
            <a:r>
              <a:rPr lang="en-US" dirty="0"/>
              <a:t> (0.4573), </a:t>
            </a:r>
            <a:r>
              <a:rPr lang="ru-RU" dirty="0"/>
              <a:t>очень близок </a:t>
            </a:r>
            <a:r>
              <a:rPr lang="en-US" b="1" i="1" dirty="0"/>
              <a:t>CatBoost</a:t>
            </a:r>
            <a:r>
              <a:rPr lang="en-US" dirty="0"/>
              <a:t> (0.4603).</a:t>
            </a:r>
            <a:endParaRPr lang="ru-RU" dirty="0"/>
          </a:p>
        </p:txBody>
      </p:sp>
      <p:graphicFrame>
        <p:nvGraphicFramePr>
          <p:cNvPr id="7" name="Таблица 7">
            <a:extLst>
              <a:ext uri="{FF2B5EF4-FFF2-40B4-BE49-F238E27FC236}">
                <a16:creationId xmlns:a16="http://schemas.microsoft.com/office/drawing/2014/main" id="{B3A3901A-9FCD-4695-9B61-D3A9D0BCE4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3054916"/>
              </p:ext>
            </p:extLst>
          </p:nvPr>
        </p:nvGraphicFramePr>
        <p:xfrm>
          <a:off x="323527" y="1893310"/>
          <a:ext cx="8184231" cy="327938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28077">
                  <a:extLst>
                    <a:ext uri="{9D8B030D-6E8A-4147-A177-3AD203B41FA5}">
                      <a16:colId xmlns:a16="http://schemas.microsoft.com/office/drawing/2014/main" val="3426904787"/>
                    </a:ext>
                  </a:extLst>
                </a:gridCol>
                <a:gridCol w="2728077">
                  <a:extLst>
                    <a:ext uri="{9D8B030D-6E8A-4147-A177-3AD203B41FA5}">
                      <a16:colId xmlns:a16="http://schemas.microsoft.com/office/drawing/2014/main" val="814893467"/>
                    </a:ext>
                  </a:extLst>
                </a:gridCol>
                <a:gridCol w="2728077">
                  <a:extLst>
                    <a:ext uri="{9D8B030D-6E8A-4147-A177-3AD203B41FA5}">
                      <a16:colId xmlns:a16="http://schemas.microsoft.com/office/drawing/2014/main" val="219877129"/>
                    </a:ext>
                  </a:extLst>
                </a:gridCol>
              </a:tblGrid>
              <a:tr h="338368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Модель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RMSE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7297875"/>
                  </a:ext>
                </a:extLst>
              </a:tr>
              <a:tr h="33836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Baseline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0.7447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0.9569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321119"/>
                  </a:ext>
                </a:extLst>
              </a:tr>
              <a:tr h="683672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Ridge Regression (TF‑IDF + </a:t>
                      </a:r>
                      <a:r>
                        <a:rPr lang="ru-RU" sz="1800" dirty="0"/>
                        <a:t>метаданные, </a:t>
                      </a:r>
                      <a:r>
                        <a:rPr lang="en-US" sz="1800" dirty="0"/>
                        <a:t>tuned)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0.4573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0.6136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1274830"/>
                  </a:ext>
                </a:extLst>
              </a:tr>
              <a:tr h="58403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CatBoost (num + cat + text</a:t>
                      </a:r>
                      <a:r>
                        <a:rPr lang="ru-RU" sz="1800" dirty="0"/>
                        <a:t>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0.4603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0.6163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071283"/>
                  </a:ext>
                </a:extLst>
              </a:tr>
              <a:tr h="58403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RandomForest (TF‑IDF + SVD)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0.5683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0.7384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6049551"/>
                  </a:ext>
                </a:extLst>
              </a:tr>
              <a:tr h="58403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Ensemble (0.5 CatBoost + 0.5 RF)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0.4935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0.6529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19626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15523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3867-4E32-4E2D-8739-58246E7E28D2}" type="slidenum">
              <a:rPr lang="ru-RU" smtClean="0"/>
              <a:t>15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7C5B09E9-61D0-438E-A4C7-C10A6BDC1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7744" y="166922"/>
            <a:ext cx="1800200" cy="706090"/>
          </a:xfrm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ru-RU" sz="1600" dirty="0"/>
              <a:t>Цель и метрики</a:t>
            </a:r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B5BABA6D-DCF2-4731-8341-E305FD099807}"/>
              </a:ext>
            </a:extLst>
          </p:cNvPr>
          <p:cNvSpPr txBox="1">
            <a:spLocks/>
          </p:cNvSpPr>
          <p:nvPr/>
        </p:nvSpPr>
        <p:spPr>
          <a:xfrm>
            <a:off x="4067944" y="166922"/>
            <a:ext cx="1800200" cy="706090"/>
          </a:xfrm>
          <a:prstGeom prst="rect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sz="1600" cap="all" baseline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Парсинг и предобработка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AA3BFDEE-22AE-4AD2-950D-E574E847F6BB}"/>
              </a:ext>
            </a:extLst>
          </p:cNvPr>
          <p:cNvSpPr txBox="1">
            <a:spLocks/>
          </p:cNvSpPr>
          <p:nvPr/>
        </p:nvSpPr>
        <p:spPr>
          <a:xfrm>
            <a:off x="5866184" y="166922"/>
            <a:ext cx="1549152" cy="706090"/>
          </a:xfrm>
          <a:prstGeom prst="rect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sz="1600" cap="all" baseline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Обучение моделей</a:t>
            </a:r>
          </a:p>
        </p:txBody>
      </p:sp>
      <p:sp>
        <p:nvSpPr>
          <p:cNvPr id="27" name="Заголовок 1">
            <a:extLst>
              <a:ext uri="{FF2B5EF4-FFF2-40B4-BE49-F238E27FC236}">
                <a16:creationId xmlns:a16="http://schemas.microsoft.com/office/drawing/2014/main" id="{FBCF01BD-A9B3-4587-9BD3-5ED31E5DF962}"/>
              </a:ext>
            </a:extLst>
          </p:cNvPr>
          <p:cNvSpPr txBox="1">
            <a:spLocks/>
          </p:cNvSpPr>
          <p:nvPr/>
        </p:nvSpPr>
        <p:spPr>
          <a:xfrm>
            <a:off x="7415336" y="167589"/>
            <a:ext cx="1549152" cy="706090"/>
          </a:xfrm>
          <a:prstGeom prst="rect">
            <a:avLst/>
          </a:prstGeom>
          <a:solidFill>
            <a:srgbClr val="D8D2D2"/>
          </a:solidFill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sz="1600" cap="all" baseline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Анализ ошибок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782D763-7437-4124-A3B4-FA53EC679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836" y="1556792"/>
            <a:ext cx="8686328" cy="4287451"/>
          </a:xfrm>
          <a:prstGeom prst="rect">
            <a:avLst/>
          </a:prstGeom>
          <a:ln>
            <a:solidFill>
              <a:srgbClr val="9B271E"/>
            </a:solidFill>
          </a:ln>
        </p:spPr>
      </p:pic>
    </p:spTree>
    <p:extLst>
      <p:ext uri="{BB962C8B-B14F-4D97-AF65-F5344CB8AC3E}">
        <p14:creationId xmlns:p14="http://schemas.microsoft.com/office/powerpoint/2010/main" val="40743900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3867-4E32-4E2D-8739-58246E7E28D2}" type="slidenum">
              <a:rPr lang="ru-RU" smtClean="0"/>
              <a:t>16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7C5B09E9-61D0-438E-A4C7-C10A6BDC1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7744" y="166922"/>
            <a:ext cx="1800200" cy="706090"/>
          </a:xfrm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ru-RU" sz="1600" dirty="0"/>
              <a:t>Цель и метрики</a:t>
            </a:r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B5BABA6D-DCF2-4731-8341-E305FD099807}"/>
              </a:ext>
            </a:extLst>
          </p:cNvPr>
          <p:cNvSpPr txBox="1">
            <a:spLocks/>
          </p:cNvSpPr>
          <p:nvPr/>
        </p:nvSpPr>
        <p:spPr>
          <a:xfrm>
            <a:off x="4067944" y="166922"/>
            <a:ext cx="1800200" cy="706090"/>
          </a:xfrm>
          <a:prstGeom prst="rect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sz="1600" cap="all" baseline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Парсинг и предобработка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AA3BFDEE-22AE-4AD2-950D-E574E847F6BB}"/>
              </a:ext>
            </a:extLst>
          </p:cNvPr>
          <p:cNvSpPr txBox="1">
            <a:spLocks/>
          </p:cNvSpPr>
          <p:nvPr/>
        </p:nvSpPr>
        <p:spPr>
          <a:xfrm>
            <a:off x="5866184" y="166922"/>
            <a:ext cx="1549152" cy="706090"/>
          </a:xfrm>
          <a:prstGeom prst="rect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sz="1600" cap="all" baseline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Обучение моделей</a:t>
            </a:r>
          </a:p>
        </p:txBody>
      </p:sp>
      <p:sp>
        <p:nvSpPr>
          <p:cNvPr id="27" name="Заголовок 1">
            <a:extLst>
              <a:ext uri="{FF2B5EF4-FFF2-40B4-BE49-F238E27FC236}">
                <a16:creationId xmlns:a16="http://schemas.microsoft.com/office/drawing/2014/main" id="{FBCF01BD-A9B3-4587-9BD3-5ED31E5DF962}"/>
              </a:ext>
            </a:extLst>
          </p:cNvPr>
          <p:cNvSpPr txBox="1">
            <a:spLocks/>
          </p:cNvSpPr>
          <p:nvPr/>
        </p:nvSpPr>
        <p:spPr>
          <a:xfrm>
            <a:off x="7415336" y="167589"/>
            <a:ext cx="1549152" cy="706090"/>
          </a:xfrm>
          <a:prstGeom prst="rect">
            <a:avLst/>
          </a:prstGeom>
          <a:solidFill>
            <a:srgbClr val="D8D2D2"/>
          </a:solidFill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sz="1600" cap="all" baseline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Анализ ошибок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0DFDC7A-01AE-473A-BAD0-42B1381621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800" y="1386359"/>
            <a:ext cx="8172400" cy="4850286"/>
          </a:xfrm>
          <a:prstGeom prst="rect">
            <a:avLst/>
          </a:prstGeom>
          <a:ln>
            <a:solidFill>
              <a:srgbClr val="9B271E"/>
            </a:solidFill>
          </a:ln>
        </p:spPr>
      </p:pic>
    </p:spTree>
    <p:extLst>
      <p:ext uri="{BB962C8B-B14F-4D97-AF65-F5344CB8AC3E}">
        <p14:creationId xmlns:p14="http://schemas.microsoft.com/office/powerpoint/2010/main" val="15473351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3867-4E32-4E2D-8739-58246E7E28D2}" type="slidenum">
              <a:rPr lang="ru-RU" smtClean="0"/>
              <a:t>17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7C5B09E9-61D0-438E-A4C7-C10A6BDC1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7744" y="166922"/>
            <a:ext cx="1800200" cy="706090"/>
          </a:xfrm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ru-RU" sz="1600" dirty="0"/>
              <a:t>Цель и метрики</a:t>
            </a:r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B5BABA6D-DCF2-4731-8341-E305FD099807}"/>
              </a:ext>
            </a:extLst>
          </p:cNvPr>
          <p:cNvSpPr txBox="1">
            <a:spLocks/>
          </p:cNvSpPr>
          <p:nvPr/>
        </p:nvSpPr>
        <p:spPr>
          <a:xfrm>
            <a:off x="4067944" y="166922"/>
            <a:ext cx="1800200" cy="706090"/>
          </a:xfrm>
          <a:prstGeom prst="rect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sz="1600" cap="all" baseline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Парсинг и предобработка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AA3BFDEE-22AE-4AD2-950D-E574E847F6BB}"/>
              </a:ext>
            </a:extLst>
          </p:cNvPr>
          <p:cNvSpPr txBox="1">
            <a:spLocks/>
          </p:cNvSpPr>
          <p:nvPr/>
        </p:nvSpPr>
        <p:spPr>
          <a:xfrm>
            <a:off x="5866184" y="166922"/>
            <a:ext cx="1549152" cy="706090"/>
          </a:xfrm>
          <a:prstGeom prst="rect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sz="1600" cap="all" baseline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Обучение моделей</a:t>
            </a:r>
          </a:p>
        </p:txBody>
      </p:sp>
      <p:sp>
        <p:nvSpPr>
          <p:cNvPr id="27" name="Заголовок 1">
            <a:extLst>
              <a:ext uri="{FF2B5EF4-FFF2-40B4-BE49-F238E27FC236}">
                <a16:creationId xmlns:a16="http://schemas.microsoft.com/office/drawing/2014/main" id="{FBCF01BD-A9B3-4587-9BD3-5ED31E5DF962}"/>
              </a:ext>
            </a:extLst>
          </p:cNvPr>
          <p:cNvSpPr txBox="1">
            <a:spLocks/>
          </p:cNvSpPr>
          <p:nvPr/>
        </p:nvSpPr>
        <p:spPr>
          <a:xfrm>
            <a:off x="7415336" y="167589"/>
            <a:ext cx="1549152" cy="706090"/>
          </a:xfrm>
          <a:prstGeom prst="rect">
            <a:avLst/>
          </a:prstGeom>
          <a:solidFill>
            <a:srgbClr val="D8D2D2"/>
          </a:solidFill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sz="1600" cap="all" baseline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Анализ ошибок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6BA0B7B-D17D-400A-B593-7652FA1B1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1124744"/>
            <a:ext cx="5400600" cy="5350846"/>
          </a:xfrm>
          <a:prstGeom prst="rect">
            <a:avLst/>
          </a:prstGeom>
          <a:ln>
            <a:solidFill>
              <a:srgbClr val="9B271E"/>
            </a:solidFill>
          </a:ln>
        </p:spPr>
      </p:pic>
    </p:spTree>
    <p:extLst>
      <p:ext uri="{BB962C8B-B14F-4D97-AF65-F5344CB8AC3E}">
        <p14:creationId xmlns:p14="http://schemas.microsoft.com/office/powerpoint/2010/main" val="12931264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3867-4E32-4E2D-8739-58246E7E28D2}" type="slidenum">
              <a:rPr lang="ru-RU" smtClean="0"/>
              <a:t>18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7C5B09E9-61D0-438E-A4C7-C10A6BDC1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7744" y="166922"/>
            <a:ext cx="1800200" cy="706090"/>
          </a:xfrm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ru-RU" sz="1600" dirty="0"/>
              <a:t>Цель и метрики</a:t>
            </a:r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B5BABA6D-DCF2-4731-8341-E305FD099807}"/>
              </a:ext>
            </a:extLst>
          </p:cNvPr>
          <p:cNvSpPr txBox="1">
            <a:spLocks/>
          </p:cNvSpPr>
          <p:nvPr/>
        </p:nvSpPr>
        <p:spPr>
          <a:xfrm>
            <a:off x="4067944" y="166922"/>
            <a:ext cx="1800200" cy="706090"/>
          </a:xfrm>
          <a:prstGeom prst="rect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sz="1600" cap="all" baseline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Парсинг и предобработка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AA3BFDEE-22AE-4AD2-950D-E574E847F6BB}"/>
              </a:ext>
            </a:extLst>
          </p:cNvPr>
          <p:cNvSpPr txBox="1">
            <a:spLocks/>
          </p:cNvSpPr>
          <p:nvPr/>
        </p:nvSpPr>
        <p:spPr>
          <a:xfrm>
            <a:off x="5866184" y="166922"/>
            <a:ext cx="1549152" cy="706090"/>
          </a:xfrm>
          <a:prstGeom prst="rect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sz="1600" cap="all" baseline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Обучение моделей</a:t>
            </a:r>
          </a:p>
        </p:txBody>
      </p:sp>
      <p:sp>
        <p:nvSpPr>
          <p:cNvPr id="27" name="Заголовок 1">
            <a:extLst>
              <a:ext uri="{FF2B5EF4-FFF2-40B4-BE49-F238E27FC236}">
                <a16:creationId xmlns:a16="http://schemas.microsoft.com/office/drawing/2014/main" id="{FBCF01BD-A9B3-4587-9BD3-5ED31E5DF962}"/>
              </a:ext>
            </a:extLst>
          </p:cNvPr>
          <p:cNvSpPr txBox="1">
            <a:spLocks/>
          </p:cNvSpPr>
          <p:nvPr/>
        </p:nvSpPr>
        <p:spPr>
          <a:xfrm>
            <a:off x="7415336" y="167589"/>
            <a:ext cx="1549152" cy="706090"/>
          </a:xfrm>
          <a:prstGeom prst="rect">
            <a:avLst/>
          </a:prstGeom>
          <a:solidFill>
            <a:srgbClr val="D8D2D2"/>
          </a:solidFill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sz="1600" cap="all" baseline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Анализ ошибок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F86BAF1-D7FD-4517-9DE2-5C509251F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484784"/>
            <a:ext cx="8686383" cy="4281937"/>
          </a:xfrm>
          <a:prstGeom prst="rect">
            <a:avLst/>
          </a:prstGeom>
          <a:ln>
            <a:solidFill>
              <a:srgbClr val="9B271E"/>
            </a:solidFill>
          </a:ln>
        </p:spPr>
      </p:pic>
    </p:spTree>
    <p:extLst>
      <p:ext uri="{BB962C8B-B14F-4D97-AF65-F5344CB8AC3E}">
        <p14:creationId xmlns:p14="http://schemas.microsoft.com/office/powerpoint/2010/main" val="18147299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3867-4E32-4E2D-8739-58246E7E28D2}" type="slidenum">
              <a:rPr lang="ru-RU" smtClean="0"/>
              <a:t>19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7C5B09E9-61D0-438E-A4C7-C10A6BDC1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7744" y="166922"/>
            <a:ext cx="1800200" cy="706090"/>
          </a:xfrm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ru-RU" sz="1600" dirty="0"/>
              <a:t>Цель и метрики</a:t>
            </a:r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B5BABA6D-DCF2-4731-8341-E305FD099807}"/>
              </a:ext>
            </a:extLst>
          </p:cNvPr>
          <p:cNvSpPr txBox="1">
            <a:spLocks/>
          </p:cNvSpPr>
          <p:nvPr/>
        </p:nvSpPr>
        <p:spPr>
          <a:xfrm>
            <a:off x="4067944" y="166922"/>
            <a:ext cx="1800200" cy="706090"/>
          </a:xfrm>
          <a:prstGeom prst="rect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sz="1600" cap="all" baseline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Парсинг и предобработка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AA3BFDEE-22AE-4AD2-950D-E574E847F6BB}"/>
              </a:ext>
            </a:extLst>
          </p:cNvPr>
          <p:cNvSpPr txBox="1">
            <a:spLocks/>
          </p:cNvSpPr>
          <p:nvPr/>
        </p:nvSpPr>
        <p:spPr>
          <a:xfrm>
            <a:off x="5866184" y="166922"/>
            <a:ext cx="1549152" cy="706090"/>
          </a:xfrm>
          <a:prstGeom prst="rect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sz="1600" cap="all" baseline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Обучение моделей</a:t>
            </a:r>
          </a:p>
        </p:txBody>
      </p:sp>
      <p:sp>
        <p:nvSpPr>
          <p:cNvPr id="27" name="Заголовок 1">
            <a:extLst>
              <a:ext uri="{FF2B5EF4-FFF2-40B4-BE49-F238E27FC236}">
                <a16:creationId xmlns:a16="http://schemas.microsoft.com/office/drawing/2014/main" id="{FBCF01BD-A9B3-4587-9BD3-5ED31E5DF962}"/>
              </a:ext>
            </a:extLst>
          </p:cNvPr>
          <p:cNvSpPr txBox="1">
            <a:spLocks/>
          </p:cNvSpPr>
          <p:nvPr/>
        </p:nvSpPr>
        <p:spPr>
          <a:xfrm>
            <a:off x="7415336" y="167589"/>
            <a:ext cx="1549152" cy="706090"/>
          </a:xfrm>
          <a:prstGeom prst="rect">
            <a:avLst/>
          </a:prstGeom>
          <a:solidFill>
            <a:srgbClr val="D8D2D2"/>
          </a:solidFill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sz="1600" cap="all" baseline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Анализ ошибок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1DD10F1-A77D-46EC-B785-8505738A4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578" y="1243774"/>
            <a:ext cx="8482844" cy="4967885"/>
          </a:xfrm>
          <a:prstGeom prst="rect">
            <a:avLst/>
          </a:prstGeom>
          <a:ln>
            <a:solidFill>
              <a:srgbClr val="9B271E"/>
            </a:solidFill>
          </a:ln>
        </p:spPr>
      </p:pic>
    </p:spTree>
    <p:extLst>
      <p:ext uri="{BB962C8B-B14F-4D97-AF65-F5344CB8AC3E}">
        <p14:creationId xmlns:p14="http://schemas.microsoft.com/office/powerpoint/2010/main" val="26799077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3867-4E32-4E2D-8739-58246E7E28D2}" type="slidenum">
              <a:rPr lang="ru-RU" smtClean="0"/>
              <a:t>20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7C5B09E9-61D0-438E-A4C7-C10A6BDC1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7744" y="166922"/>
            <a:ext cx="1800200" cy="706090"/>
          </a:xfrm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ru-RU" sz="1600" dirty="0"/>
              <a:t>Цель и метрики</a:t>
            </a:r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B5BABA6D-DCF2-4731-8341-E305FD099807}"/>
              </a:ext>
            </a:extLst>
          </p:cNvPr>
          <p:cNvSpPr txBox="1">
            <a:spLocks/>
          </p:cNvSpPr>
          <p:nvPr/>
        </p:nvSpPr>
        <p:spPr>
          <a:xfrm>
            <a:off x="4067944" y="166922"/>
            <a:ext cx="1800200" cy="706090"/>
          </a:xfrm>
          <a:prstGeom prst="rect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sz="1600" cap="all" baseline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Парсинг и предобработка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AA3BFDEE-22AE-4AD2-950D-E574E847F6BB}"/>
              </a:ext>
            </a:extLst>
          </p:cNvPr>
          <p:cNvSpPr txBox="1">
            <a:spLocks/>
          </p:cNvSpPr>
          <p:nvPr/>
        </p:nvSpPr>
        <p:spPr>
          <a:xfrm>
            <a:off x="5866184" y="166922"/>
            <a:ext cx="1549152" cy="706090"/>
          </a:xfrm>
          <a:prstGeom prst="rect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sz="1600" cap="all" baseline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Обучение моделей</a:t>
            </a:r>
          </a:p>
        </p:txBody>
      </p:sp>
      <p:sp>
        <p:nvSpPr>
          <p:cNvPr id="27" name="Заголовок 1">
            <a:extLst>
              <a:ext uri="{FF2B5EF4-FFF2-40B4-BE49-F238E27FC236}">
                <a16:creationId xmlns:a16="http://schemas.microsoft.com/office/drawing/2014/main" id="{FBCF01BD-A9B3-4587-9BD3-5ED31E5DF962}"/>
              </a:ext>
            </a:extLst>
          </p:cNvPr>
          <p:cNvSpPr txBox="1">
            <a:spLocks/>
          </p:cNvSpPr>
          <p:nvPr/>
        </p:nvSpPr>
        <p:spPr>
          <a:xfrm>
            <a:off x="7415336" y="167589"/>
            <a:ext cx="1549152" cy="706090"/>
          </a:xfrm>
          <a:prstGeom prst="rect">
            <a:avLst/>
          </a:prstGeom>
          <a:solidFill>
            <a:srgbClr val="D8D2D2"/>
          </a:solidFill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sz="1600" cap="all" baseline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Анализ ошибок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2F5C15A-E30E-48D0-824C-F9CD0633B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1" y="1412776"/>
            <a:ext cx="8776527" cy="4320480"/>
          </a:xfrm>
          <a:prstGeom prst="rect">
            <a:avLst/>
          </a:prstGeom>
          <a:ln>
            <a:solidFill>
              <a:srgbClr val="9B271E"/>
            </a:solidFill>
          </a:ln>
        </p:spPr>
      </p:pic>
    </p:spTree>
    <p:extLst>
      <p:ext uri="{BB962C8B-B14F-4D97-AF65-F5344CB8AC3E}">
        <p14:creationId xmlns:p14="http://schemas.microsoft.com/office/powerpoint/2010/main" val="2311101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3867-4E32-4E2D-8739-58246E7E28D2}" type="slidenum">
              <a:rPr lang="ru-RU" smtClean="0"/>
              <a:t>21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7C5B09E9-61D0-438E-A4C7-C10A6BDC1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7744" y="166922"/>
            <a:ext cx="1800200" cy="706090"/>
          </a:xfrm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ru-RU" sz="1600" dirty="0"/>
              <a:t>Цель и метрики</a:t>
            </a:r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B5BABA6D-DCF2-4731-8341-E305FD099807}"/>
              </a:ext>
            </a:extLst>
          </p:cNvPr>
          <p:cNvSpPr txBox="1">
            <a:spLocks/>
          </p:cNvSpPr>
          <p:nvPr/>
        </p:nvSpPr>
        <p:spPr>
          <a:xfrm>
            <a:off x="4067944" y="166922"/>
            <a:ext cx="1800200" cy="706090"/>
          </a:xfrm>
          <a:prstGeom prst="rect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sz="1600" cap="all" baseline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Парсинг и предобработка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AA3BFDEE-22AE-4AD2-950D-E574E847F6BB}"/>
              </a:ext>
            </a:extLst>
          </p:cNvPr>
          <p:cNvSpPr txBox="1">
            <a:spLocks/>
          </p:cNvSpPr>
          <p:nvPr/>
        </p:nvSpPr>
        <p:spPr>
          <a:xfrm>
            <a:off x="5866184" y="166922"/>
            <a:ext cx="1549152" cy="706090"/>
          </a:xfrm>
          <a:prstGeom prst="rect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sz="1600" cap="all" baseline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Обучение моделей</a:t>
            </a:r>
          </a:p>
        </p:txBody>
      </p:sp>
      <p:sp>
        <p:nvSpPr>
          <p:cNvPr id="27" name="Заголовок 1">
            <a:extLst>
              <a:ext uri="{FF2B5EF4-FFF2-40B4-BE49-F238E27FC236}">
                <a16:creationId xmlns:a16="http://schemas.microsoft.com/office/drawing/2014/main" id="{FBCF01BD-A9B3-4587-9BD3-5ED31E5DF962}"/>
              </a:ext>
            </a:extLst>
          </p:cNvPr>
          <p:cNvSpPr txBox="1">
            <a:spLocks/>
          </p:cNvSpPr>
          <p:nvPr/>
        </p:nvSpPr>
        <p:spPr>
          <a:xfrm>
            <a:off x="7415336" y="167589"/>
            <a:ext cx="1549152" cy="706090"/>
          </a:xfrm>
          <a:prstGeom prst="rect">
            <a:avLst/>
          </a:prstGeom>
          <a:solidFill>
            <a:srgbClr val="D8D2D2"/>
          </a:solidFill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sz="1600" cap="all" baseline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Анализ ошибок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77C8FEE-0C34-4AD0-BC20-FD8AFA795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58" y="1412776"/>
            <a:ext cx="8625484" cy="4596815"/>
          </a:xfrm>
          <a:prstGeom prst="rect">
            <a:avLst/>
          </a:prstGeom>
          <a:ln>
            <a:solidFill>
              <a:srgbClr val="9B271E"/>
            </a:solidFill>
          </a:ln>
        </p:spPr>
      </p:pic>
    </p:spTree>
    <p:extLst>
      <p:ext uri="{BB962C8B-B14F-4D97-AF65-F5344CB8AC3E}">
        <p14:creationId xmlns:p14="http://schemas.microsoft.com/office/powerpoint/2010/main" val="17126828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3867-4E32-4E2D-8739-58246E7E28D2}" type="slidenum">
              <a:rPr lang="ru-RU" smtClean="0"/>
              <a:t>22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7C5B09E9-61D0-438E-A4C7-C10A6BDC1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7744" y="166922"/>
            <a:ext cx="1800200" cy="706090"/>
          </a:xfrm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ru-RU" sz="1600" dirty="0"/>
              <a:t>Цель и метрики</a:t>
            </a:r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B5BABA6D-DCF2-4731-8341-E305FD099807}"/>
              </a:ext>
            </a:extLst>
          </p:cNvPr>
          <p:cNvSpPr txBox="1">
            <a:spLocks/>
          </p:cNvSpPr>
          <p:nvPr/>
        </p:nvSpPr>
        <p:spPr>
          <a:xfrm>
            <a:off x="4067944" y="166922"/>
            <a:ext cx="1800200" cy="706090"/>
          </a:xfrm>
          <a:prstGeom prst="rect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sz="1600" cap="all" baseline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Парсинг и предобработка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AA3BFDEE-22AE-4AD2-950D-E574E847F6BB}"/>
              </a:ext>
            </a:extLst>
          </p:cNvPr>
          <p:cNvSpPr txBox="1">
            <a:spLocks/>
          </p:cNvSpPr>
          <p:nvPr/>
        </p:nvSpPr>
        <p:spPr>
          <a:xfrm>
            <a:off x="5866184" y="166922"/>
            <a:ext cx="1549152" cy="706090"/>
          </a:xfrm>
          <a:prstGeom prst="rect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sz="1600" cap="all" baseline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Обучение моделей</a:t>
            </a:r>
          </a:p>
        </p:txBody>
      </p:sp>
      <p:sp>
        <p:nvSpPr>
          <p:cNvPr id="27" name="Заголовок 1">
            <a:extLst>
              <a:ext uri="{FF2B5EF4-FFF2-40B4-BE49-F238E27FC236}">
                <a16:creationId xmlns:a16="http://schemas.microsoft.com/office/drawing/2014/main" id="{FBCF01BD-A9B3-4587-9BD3-5ED31E5DF962}"/>
              </a:ext>
            </a:extLst>
          </p:cNvPr>
          <p:cNvSpPr txBox="1">
            <a:spLocks/>
          </p:cNvSpPr>
          <p:nvPr/>
        </p:nvSpPr>
        <p:spPr>
          <a:xfrm>
            <a:off x="7415336" y="167589"/>
            <a:ext cx="1549152" cy="706090"/>
          </a:xfrm>
          <a:prstGeom prst="rect">
            <a:avLst/>
          </a:prstGeom>
          <a:solidFill>
            <a:srgbClr val="D8D2D2"/>
          </a:solidFill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sz="1600" cap="all" baseline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Анализ ошибок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249EC78-C167-49FA-B595-BCD8D581AF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283" y="1250288"/>
            <a:ext cx="7443722" cy="5169586"/>
          </a:xfrm>
          <a:prstGeom prst="rect">
            <a:avLst/>
          </a:prstGeom>
          <a:ln>
            <a:solidFill>
              <a:srgbClr val="9B271E"/>
            </a:solidFill>
          </a:ln>
        </p:spPr>
      </p:pic>
    </p:spTree>
    <p:extLst>
      <p:ext uri="{BB962C8B-B14F-4D97-AF65-F5344CB8AC3E}">
        <p14:creationId xmlns:p14="http://schemas.microsoft.com/office/powerpoint/2010/main" val="19270678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3867-4E32-4E2D-8739-58246E7E28D2}" type="slidenum">
              <a:rPr lang="ru-RU" smtClean="0"/>
              <a:t>23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7C5B09E9-61D0-438E-A4C7-C10A6BDC1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7744" y="166922"/>
            <a:ext cx="1800200" cy="706090"/>
          </a:xfrm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ru-RU" sz="1600" dirty="0"/>
              <a:t>Цель и метрики</a:t>
            </a:r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B5BABA6D-DCF2-4731-8341-E305FD099807}"/>
              </a:ext>
            </a:extLst>
          </p:cNvPr>
          <p:cNvSpPr txBox="1">
            <a:spLocks/>
          </p:cNvSpPr>
          <p:nvPr/>
        </p:nvSpPr>
        <p:spPr>
          <a:xfrm>
            <a:off x="4067944" y="166922"/>
            <a:ext cx="1800200" cy="706090"/>
          </a:xfrm>
          <a:prstGeom prst="rect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sz="1600" cap="all" baseline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Парсинг и предобработка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AA3BFDEE-22AE-4AD2-950D-E574E847F6BB}"/>
              </a:ext>
            </a:extLst>
          </p:cNvPr>
          <p:cNvSpPr txBox="1">
            <a:spLocks/>
          </p:cNvSpPr>
          <p:nvPr/>
        </p:nvSpPr>
        <p:spPr>
          <a:xfrm>
            <a:off x="5866184" y="166922"/>
            <a:ext cx="1549152" cy="706090"/>
          </a:xfrm>
          <a:prstGeom prst="rect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sz="1600" cap="all" baseline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Обучение моделей</a:t>
            </a:r>
          </a:p>
        </p:txBody>
      </p:sp>
      <p:sp>
        <p:nvSpPr>
          <p:cNvPr id="27" name="Заголовок 1">
            <a:extLst>
              <a:ext uri="{FF2B5EF4-FFF2-40B4-BE49-F238E27FC236}">
                <a16:creationId xmlns:a16="http://schemas.microsoft.com/office/drawing/2014/main" id="{FBCF01BD-A9B3-4587-9BD3-5ED31E5DF962}"/>
              </a:ext>
            </a:extLst>
          </p:cNvPr>
          <p:cNvSpPr txBox="1">
            <a:spLocks/>
          </p:cNvSpPr>
          <p:nvPr/>
        </p:nvSpPr>
        <p:spPr>
          <a:xfrm>
            <a:off x="7415336" y="167589"/>
            <a:ext cx="1549152" cy="706090"/>
          </a:xfrm>
          <a:prstGeom prst="rect">
            <a:avLst/>
          </a:prstGeom>
          <a:solidFill>
            <a:srgbClr val="D8D2D2"/>
          </a:solidFill>
          <a:ln w="19050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sz="1600" cap="all" baseline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Анализ ошибок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9A8AE25-F87A-40CA-B520-8A444294E9A4}"/>
              </a:ext>
            </a:extLst>
          </p:cNvPr>
          <p:cNvSpPr/>
          <p:nvPr/>
        </p:nvSpPr>
        <p:spPr>
          <a:xfrm>
            <a:off x="356977" y="1340768"/>
            <a:ext cx="22204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i="1" dirty="0">
                <a:solidFill>
                  <a:srgbClr val="9F2B22"/>
                </a:solidFill>
              </a:rPr>
              <a:t>Анализ рисков: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C5E850E-9796-43DA-AB46-F0E4EB331353}"/>
              </a:ext>
            </a:extLst>
          </p:cNvPr>
          <p:cNvSpPr/>
          <p:nvPr/>
        </p:nvSpPr>
        <p:spPr>
          <a:xfrm>
            <a:off x="356977" y="1988840"/>
            <a:ext cx="8434536" cy="3939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ru-RU" sz="2000" dirty="0"/>
              <a:t>2267 фильмов могут не отражать весь Кинопоиск. В итоге мы можем получить перекос по годам, странам, популярности. Тогда модель может хуже работать на «редких» сэмплах (артхаус, старое кино, малоизвестные страны).</a:t>
            </a:r>
          </a:p>
          <a:p>
            <a:pPr marL="285750" indent="-285750"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ru-RU" sz="2000" dirty="0"/>
              <a:t>Рейтинг также зависит от множества факторов, которых нет в данных: маркетинг, известность актёров/режиссёра, дата релиза и т.д. Так что, грубо говоря, существует «потолок качества».</a:t>
            </a:r>
          </a:p>
          <a:p>
            <a:pPr marL="285750" indent="-285750"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ru-RU" sz="2000" dirty="0"/>
              <a:t>rating_count может быть «подглядыванием в будущее», если мы хотим предсказывать рейтинг фильма до того, как пользователи проголосовали. Получается небольшое смещение выборки и репрезентативности.</a:t>
            </a:r>
          </a:p>
        </p:txBody>
      </p:sp>
    </p:spTree>
    <p:extLst>
      <p:ext uri="{BB962C8B-B14F-4D97-AF65-F5344CB8AC3E}">
        <p14:creationId xmlns:p14="http://schemas.microsoft.com/office/powerpoint/2010/main" val="5499991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9824C5-81EF-4529-BFAC-36F197FE7AE6}"/>
              </a:ext>
            </a:extLst>
          </p:cNvPr>
          <p:cNvSpPr txBox="1">
            <a:spLocks/>
          </p:cNvSpPr>
          <p:nvPr/>
        </p:nvSpPr>
        <p:spPr>
          <a:xfrm>
            <a:off x="685800" y="2130425"/>
            <a:ext cx="7990656" cy="147002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ru-RU" dirty="0">
                <a:solidFill>
                  <a:schemeClr val="bg1"/>
                </a:solidFill>
              </a:rPr>
              <a:t>СПАСИБО ЗА ВНИМАНИЕ</a:t>
            </a:r>
            <a:r>
              <a:rPr lang="en-US" dirty="0">
                <a:solidFill>
                  <a:schemeClr val="bg1"/>
                </a:solidFill>
              </a:rPr>
              <a:t>!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00616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2381</TotalTime>
  <Words>1006</Words>
  <Application>Microsoft Office PowerPoint</Application>
  <PresentationFormat>Экран (4:3)</PresentationFormat>
  <Paragraphs>199</Paragraphs>
  <Slides>24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29" baseType="lpstr">
      <vt:lpstr>Arial</vt:lpstr>
      <vt:lpstr>Calibri</vt:lpstr>
      <vt:lpstr>Courier New</vt:lpstr>
      <vt:lpstr>Wingdings</vt:lpstr>
      <vt:lpstr>Тема Office</vt:lpstr>
      <vt:lpstr>Предсказание рейтинга фильмов на основе метаданных машинное обучение</vt:lpstr>
      <vt:lpstr>Цель и метрики</vt:lpstr>
      <vt:lpstr>Цель и метрики</vt:lpstr>
      <vt:lpstr>Цель и метрики</vt:lpstr>
      <vt:lpstr>Цель и метрики</vt:lpstr>
      <vt:lpstr>Цель и метрики</vt:lpstr>
      <vt:lpstr>Цель и метрики</vt:lpstr>
      <vt:lpstr>Цель и метрики</vt:lpstr>
      <vt:lpstr>Цель и метрики</vt:lpstr>
      <vt:lpstr>Цель и метрики</vt:lpstr>
      <vt:lpstr>Цель и метрики</vt:lpstr>
      <vt:lpstr>Цель и метрики</vt:lpstr>
      <vt:lpstr>Цель и метрики</vt:lpstr>
      <vt:lpstr>Цель и метрики</vt:lpstr>
      <vt:lpstr>Цель и метрики</vt:lpstr>
      <vt:lpstr>Цель и метрики</vt:lpstr>
      <vt:lpstr>Цель и метрики</vt:lpstr>
      <vt:lpstr>Цель и метрики</vt:lpstr>
      <vt:lpstr>Цель и метрики</vt:lpstr>
      <vt:lpstr>Цель и метрики</vt:lpstr>
      <vt:lpstr>Цель и метрики</vt:lpstr>
      <vt:lpstr>Цель и метрики</vt:lpstr>
      <vt:lpstr>Цель и метрики</vt:lpstr>
      <vt:lpstr>Презентация PowerPoint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Баранова Ольга Владимировна</dc:creator>
  <cp:lastModifiedBy>Роман Горынцев</cp:lastModifiedBy>
  <cp:revision>250</cp:revision>
  <dcterms:created xsi:type="dcterms:W3CDTF">2015-06-09T11:05:16Z</dcterms:created>
  <dcterms:modified xsi:type="dcterms:W3CDTF">2026-05-16T04:52:59Z</dcterms:modified>
</cp:coreProperties>
</file>